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Lst>
  <p:notesMasterIdLst>
    <p:notesMasterId r:id="rId6"/>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notesMaster" Target="notesMasters/notesMaster1.xml"/><Relationship Id="rId7" Type="http://schemas.openxmlformats.org/officeDocument/2006/relationships/presProps" Target="presProps.xml"/><Relationship Id="rId8" Type="http://schemas.openxmlformats.org/officeDocument/2006/relationships/viewProps" Target="viewProps.xml"/><Relationship Id="rId9" Type="http://schemas.openxmlformats.org/officeDocument/2006/relationships/theme" Target="theme/theme1.xml"/><Relationship Id="rId1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320753"/>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FFDE00"/>
          </a:solidFill>
          <a:ln w="12700">
            <a:solidFill>
              <a:srgbClr val="FFDE00"/>
            </a:solidFill>
            <a:prstDash val="solid"/>
          </a:ln>
        </p:spPr>
        <p:txBody>
          <a:bodyPr/>
          <a:p/>
        </p:txBody>
      </p:sp>
      <p:sp>
        <p:nvSpPr>
          <p:cNvPr id="3" name="Shape 1"/>
          <p:cNvSpPr/>
          <p:nvPr/>
        </p:nvSpPr>
        <p:spPr>
          <a:xfrm>
            <a:off x="457200" y="914400"/>
            <a:ext cx="822960" cy="822960"/>
          </a:xfrm>
          <a:prstGeom prst="rect">
            <a:avLst/>
          </a:prstGeom>
          <a:solidFill>
            <a:srgbClr val="FFDE00"/>
          </a:solidFill>
          <a:ln w="12700">
            <a:solidFill>
              <a:srgbClr val="FFDE00"/>
            </a:solidFill>
            <a:prstDash val="solid"/>
          </a:ln>
        </p:spPr>
        <p:txBody>
          <a:bodyPr/>
          <a:p/>
        </p:txBody>
      </p:sp>
      <p:sp>
        <p:nvSpPr>
          <p:cNvPr id="4" name="Text 2"/>
          <p:cNvSpPr/>
          <p:nvPr/>
        </p:nvSpPr>
        <p:spPr>
          <a:xfrm>
            <a:off x="457200" y="914400"/>
            <a:ext cx="822960" cy="822960"/>
          </a:xfrm>
          <a:prstGeom prst="rect">
            <a:avLst/>
          </a:prstGeom>
          <a:noFill/>
          <a:ln/>
        </p:spPr>
        <p:txBody>
          <a:bodyPr wrap="square" lIns="0" tIns="0" rIns="0" bIns="0" rtlCol="0" anchor="ctr"/>
          <a:lstStyle/>
          <a:p>
            <a:pPr algn="ctr" indent="0" marL="0">
              <a:buNone/>
            </a:pPr>
            <a:r>
              <a:rPr lang="en-US" sz="2400" b="1" dirty="0">
                <a:solidFill>
                  <a:srgbClr val="320753"/>
                </a:solidFill>
                <a:latin typeface="Arial Black" pitchFamily="34" charset="0"/>
                <a:ea typeface="Arial Black" pitchFamily="34" charset="-122"/>
                <a:cs typeface="Arial Black" pitchFamily="34" charset="-120"/>
              </a:rPr>
              <a:t>BM</a:t>
            </a:r>
            <a:endParaRPr lang="en-US" sz="2400" dirty="0"/>
          </a:p>
        </p:txBody>
      </p:sp>
      <p:sp>
        <p:nvSpPr>
          <p:cNvPr id="5" name="Text 3"/>
          <p:cNvSpPr/>
          <p:nvPr/>
        </p:nvSpPr>
        <p:spPr>
          <a:xfrm>
            <a:off x="1417320" y="1005840"/>
            <a:ext cx="3657600" cy="320040"/>
          </a:xfrm>
          <a:prstGeom prst="rect">
            <a:avLst/>
          </a:prstGeom>
          <a:noFill/>
          <a:ln/>
        </p:spPr>
        <p:txBody>
          <a:bodyPr wrap="square" lIns="0" tIns="0" rIns="0" bIns="0" rtlCol="0" anchor="ctr"/>
          <a:lstStyle/>
          <a:p>
            <a:pPr indent="0" marL="0">
              <a:buNone/>
            </a:pPr>
            <a:r>
              <a:rPr lang="en-US" sz="1400" b="1" spc="200" kern="0" dirty="0">
                <a:solidFill>
                  <a:srgbClr val="FFFFFF"/>
                </a:solidFill>
                <a:latin typeface="Arial Black" pitchFamily="34" charset="0"/>
                <a:ea typeface="Arial Black" pitchFamily="34" charset="-122"/>
                <a:cs typeface="Arial Black" pitchFamily="34" charset="-120"/>
              </a:rPr>
              <a:t>BOMBAY MEDIA</a:t>
            </a:r>
            <a:endParaRPr lang="en-US" sz="1400" dirty="0"/>
          </a:p>
        </p:txBody>
      </p:sp>
      <p:sp>
        <p:nvSpPr>
          <p:cNvPr id="6" name="Text 4"/>
          <p:cNvSpPr/>
          <p:nvPr/>
        </p:nvSpPr>
        <p:spPr>
          <a:xfrm>
            <a:off x="1417320" y="1371600"/>
            <a:ext cx="3657600" cy="274320"/>
          </a:xfrm>
          <a:prstGeom prst="rect">
            <a:avLst/>
          </a:prstGeom>
          <a:noFill/>
          <a:ln/>
        </p:spPr>
        <p:txBody>
          <a:bodyPr wrap="square" lIns="0" tIns="0" rIns="0" bIns="0" rtlCol="0" anchor="ctr"/>
          <a:lstStyle/>
          <a:p>
            <a:pPr indent="0" marL="0">
              <a:buNone/>
            </a:pPr>
            <a:r>
              <a:rPr lang="en-US" sz="1000" dirty="0">
                <a:solidFill>
                  <a:srgbClr val="FFDE00"/>
                </a:solidFill>
                <a:latin typeface="Calibri" pitchFamily="34" charset="0"/>
                <a:ea typeface="Calibri" pitchFamily="34" charset="-122"/>
                <a:cs typeface="Calibri" pitchFamily="34" charset="-120"/>
              </a:rPr>
              <a:t>AI-Powered Performance Marketing</a:t>
            </a:r>
            <a:endParaRPr lang="en-US" sz="1000" dirty="0"/>
          </a:p>
        </p:txBody>
      </p:sp>
      <p:sp>
        <p:nvSpPr>
          <p:cNvPr id="7" name="Shape 5"/>
          <p:cNvSpPr/>
          <p:nvPr/>
        </p:nvSpPr>
        <p:spPr>
          <a:xfrm>
            <a:off x="457200" y="2103120"/>
            <a:ext cx="8229600" cy="54864"/>
          </a:xfrm>
          <a:prstGeom prst="rect">
            <a:avLst/>
          </a:prstGeom>
          <a:solidFill>
            <a:srgbClr val="9F86C0"/>
          </a:solidFill>
          <a:ln w="12700">
            <a:solidFill>
              <a:srgbClr val="9F86C0"/>
            </a:solidFill>
            <a:prstDash val="solid"/>
          </a:ln>
        </p:spPr>
        <p:txBody>
          <a:bodyPr/>
          <a:p/>
        </p:txBody>
      </p:sp>
      <p:sp>
        <p:nvSpPr>
          <p:cNvPr id="8" name="Text 6"/>
          <p:cNvSpPr/>
          <p:nvPr/>
        </p:nvSpPr>
        <p:spPr>
          <a:xfrm>
            <a:off x="457200" y="2331720"/>
            <a:ext cx="8229600" cy="594360"/>
          </a:xfrm>
          <a:prstGeom prst="rect">
            <a:avLst/>
          </a:prstGeom>
          <a:noFill/>
          <a:ln/>
        </p:spPr>
        <p:txBody>
          <a:bodyPr wrap="square" lIns="0" tIns="0" rIns="0" bIns="0" rtlCol="0" anchor="ctr"/>
          <a:lstStyle/>
          <a:p>
            <a:pPr indent="0" marL="0">
              <a:buNone/>
            </a:pPr>
            <a:r>
              <a:rPr lang="en-US" sz="3400" b="1" spc="200" kern="0" dirty="0">
                <a:solidFill>
                  <a:srgbClr val="FFFFFF"/>
                </a:solidFill>
                <a:latin typeface="Arial Black" pitchFamily="34" charset="0"/>
                <a:ea typeface="Arial Black" pitchFamily="34" charset="-122"/>
                <a:cs typeface="Arial Black" pitchFamily="34" charset="-120"/>
              </a:rPr>
              <a:t>SERVICE AGREEMENT</a:t>
            </a:r>
            <a:endParaRPr lang="en-US" sz="3400" dirty="0"/>
          </a:p>
        </p:txBody>
      </p:sp>
      <p:sp>
        <p:nvSpPr>
          <p:cNvPr id="9" name="Text 7"/>
          <p:cNvSpPr/>
          <p:nvPr/>
        </p:nvSpPr>
        <p:spPr>
          <a:xfrm>
            <a:off x="457200" y="2971800"/>
            <a:ext cx="8229600" cy="365760"/>
          </a:xfrm>
          <a:prstGeom prst="rect">
            <a:avLst/>
          </a:prstGeom>
          <a:noFill/>
          <a:ln/>
        </p:spPr>
        <p:txBody>
          <a:bodyPr wrap="square" lIns="0" tIns="0" rIns="0" bIns="0" rtlCol="0" anchor="ctr"/>
          <a:lstStyle/>
          <a:p>
            <a:pPr indent="0" marL="0">
              <a:buNone/>
            </a:pPr>
            <a:r>
              <a:rPr lang="en-US" sz="1600" dirty="0">
                <a:solidFill>
                  <a:srgbClr val="FFDE00"/>
                </a:solidFill>
                <a:latin typeface="Calibri" pitchFamily="34" charset="0"/>
                <a:ea typeface="Calibri" pitchFamily="34" charset="-122"/>
                <a:cs typeface="Calibri" pitchFamily="34" charset="-120"/>
              </a:rPr>
              <a:t>Performance Marketing Partnership</a:t>
            </a:r>
            <a:endParaRPr lang="en-US" sz="1600" dirty="0"/>
          </a:p>
        </p:txBody>
      </p:sp>
      <p:sp>
        <p:nvSpPr>
          <p:cNvPr id="10" name="Text 8"/>
          <p:cNvSpPr/>
          <p:nvPr/>
        </p:nvSpPr>
        <p:spPr>
          <a:xfrm>
            <a:off x="457200" y="3657600"/>
            <a:ext cx="5486400" cy="274320"/>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Client:  Test Client</a:t>
            </a:r>
            <a:endParaRPr lang="en-US" sz="1100" dirty="0"/>
          </a:p>
        </p:txBody>
      </p:sp>
      <p:sp>
        <p:nvSpPr>
          <p:cNvPr id="11" name="Text 9"/>
          <p:cNvSpPr/>
          <p:nvPr/>
        </p:nvSpPr>
        <p:spPr>
          <a:xfrm>
            <a:off x="457200" y="3931920"/>
            <a:ext cx="5486400" cy="274320"/>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Date:    14 June 2026</a:t>
            </a:r>
            <a:endParaRPr lang="en-US" sz="1100" dirty="0"/>
          </a:p>
        </p:txBody>
      </p:sp>
      <p:sp>
        <p:nvSpPr>
          <p:cNvPr id="12" name="Text 10"/>
          <p:cNvSpPr/>
          <p:nvPr/>
        </p:nvSpPr>
        <p:spPr>
          <a:xfrm>
            <a:off x="457200" y="4206240"/>
            <a:ext cx="5486400" cy="274320"/>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Agreement No:  BM-2026-0614</a:t>
            </a:r>
            <a:endParaRPr lang="en-US" sz="1100" dirty="0"/>
          </a:p>
        </p:txBody>
      </p:sp>
      <p:sp>
        <p:nvSpPr>
          <p:cNvPr id="13" name="Shape 11"/>
          <p:cNvSpPr/>
          <p:nvPr/>
        </p:nvSpPr>
        <p:spPr>
          <a:xfrm>
            <a:off x="0" y="4846320"/>
            <a:ext cx="9144000" cy="297180"/>
          </a:xfrm>
          <a:prstGeom prst="rect">
            <a:avLst/>
          </a:prstGeom>
          <a:solidFill>
            <a:srgbClr val="FFDE00"/>
          </a:solidFill>
          <a:ln w="12700">
            <a:solidFill>
              <a:srgbClr val="FFDE00"/>
            </a:solidFill>
            <a:prstDash val="solid"/>
          </a:ln>
        </p:spPr>
        <p:txBody>
          <a:bodyPr/>
          <a:p/>
        </p:txBody>
      </p:sp>
      <p:sp>
        <p:nvSpPr>
          <p:cNvPr id="14" name="Text 12"/>
          <p:cNvSpPr/>
          <p:nvPr/>
        </p:nvSpPr>
        <p:spPr>
          <a:xfrm>
            <a:off x="365760" y="4846320"/>
            <a:ext cx="8229600" cy="297180"/>
          </a:xfrm>
          <a:prstGeom prst="rect">
            <a:avLst/>
          </a:prstGeom>
          <a:noFill/>
          <a:ln/>
        </p:spPr>
        <p:txBody>
          <a:bodyPr wrap="square" lIns="0" tIns="0" rIns="0" bIns="0" rtlCol="0" anchor="ctr"/>
          <a:lstStyle/>
          <a:p>
            <a:pPr indent="0" marL="0">
              <a:buNone/>
            </a:pPr>
            <a:r>
              <a:rPr lang="en-US" sz="900" dirty="0">
                <a:solidFill>
                  <a:srgbClr val="320753"/>
                </a:solidFill>
                <a:latin typeface="Calibri" pitchFamily="34" charset="0"/>
                <a:ea typeface="Calibri" pitchFamily="34" charset="-122"/>
                <a:cs typeface="Calibri" pitchFamily="34" charset="-120"/>
              </a:rPr>
              <a:t>CONFIDENTIAL — For Recipient Use Only</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320753"/>
          </a:solidFill>
          <a:ln w="12700">
            <a:solidFill>
              <a:srgbClr val="320753"/>
            </a:solidFill>
            <a:prstDash val="solid"/>
          </a:ln>
        </p:spPr>
        <p:txBody>
          <a:bodyPr/>
          <a:p/>
        </p:txBody>
      </p:sp>
      <p:sp>
        <p:nvSpPr>
          <p:cNvPr id="3" name="Text 1"/>
          <p:cNvSpPr/>
          <p:nvPr/>
        </p:nvSpPr>
        <p:spPr>
          <a:xfrm>
            <a:off x="365760" y="0"/>
            <a:ext cx="8229600" cy="640080"/>
          </a:xfrm>
          <a:prstGeom prst="rect">
            <a:avLst/>
          </a:prstGeom>
          <a:noFill/>
          <a:ln/>
        </p:spPr>
        <p:txBody>
          <a:bodyPr wrap="square" lIns="0" tIns="0" rIns="0" bIns="0" rtlCol="0" anchor="ctr"/>
          <a:lstStyle/>
          <a:p>
            <a:pPr indent="0" marL="0">
              <a:buNone/>
            </a:pPr>
            <a:r>
              <a:rPr lang="en-US" sz="1200" b="1" spc="200" kern="0" dirty="0">
                <a:solidFill>
                  <a:srgbClr val="FFDE00"/>
                </a:solidFill>
                <a:latin typeface="Arial Black" pitchFamily="34" charset="0"/>
                <a:ea typeface="Arial Black" pitchFamily="34" charset="-122"/>
                <a:cs typeface="Arial Black" pitchFamily="34" charset="-120"/>
              </a:rPr>
              <a:t>1. PARTIES &amp; SCOPE OF AGREEMENT</a:t>
            </a:r>
            <a:endParaRPr lang="en-US" sz="1200" dirty="0"/>
          </a:p>
        </p:txBody>
      </p:sp>
      <p:sp>
        <p:nvSpPr>
          <p:cNvPr id="4" name="Shape 2"/>
          <p:cNvSpPr/>
          <p:nvPr/>
        </p:nvSpPr>
        <p:spPr>
          <a:xfrm>
            <a:off x="365760" y="777240"/>
            <a:ext cx="3840480" cy="2194560"/>
          </a:xfrm>
          <a:prstGeom prst="rect">
            <a:avLst/>
          </a:prstGeom>
          <a:solidFill>
            <a:srgbClr val="F8F5FF"/>
          </a:solidFill>
          <a:ln w="12700">
            <a:solidFill>
              <a:srgbClr val="E5D9F2"/>
            </a:solidFill>
            <a:prstDash val="solid"/>
          </a:ln>
        </p:spPr>
        <p:txBody>
          <a:bodyPr/>
          <a:p/>
        </p:txBody>
      </p:sp>
      <p:sp>
        <p:nvSpPr>
          <p:cNvPr id="5" name="Shape 3"/>
          <p:cNvSpPr/>
          <p:nvPr/>
        </p:nvSpPr>
        <p:spPr>
          <a:xfrm>
            <a:off x="365760" y="777240"/>
            <a:ext cx="3840480" cy="347472"/>
          </a:xfrm>
          <a:prstGeom prst="rect">
            <a:avLst/>
          </a:prstGeom>
          <a:solidFill>
            <a:srgbClr val="37245C"/>
          </a:solidFill>
          <a:ln w="12700">
            <a:solidFill>
              <a:srgbClr val="37245C"/>
            </a:solidFill>
            <a:prstDash val="solid"/>
          </a:ln>
        </p:spPr>
        <p:txBody>
          <a:bodyPr/>
          <a:p/>
        </p:txBody>
      </p:sp>
      <p:sp>
        <p:nvSpPr>
          <p:cNvPr id="6" name="Text 4"/>
          <p:cNvSpPr/>
          <p:nvPr/>
        </p:nvSpPr>
        <p:spPr>
          <a:xfrm>
            <a:off x="365760" y="777240"/>
            <a:ext cx="3840480" cy="347472"/>
          </a:xfrm>
          <a:prstGeom prst="rect">
            <a:avLst/>
          </a:prstGeom>
          <a:noFill/>
          <a:ln/>
        </p:spPr>
        <p:txBody>
          <a:bodyPr wrap="square" lIns="0" tIns="0" rIns="0" bIns="0" rtlCol="0" anchor="ctr"/>
          <a:lstStyle/>
          <a:p>
            <a:pPr algn="ctr" indent="0" marL="0">
              <a:buNone/>
            </a:pPr>
            <a:r>
              <a:rPr lang="en-US" sz="900" b="1" spc="200" kern="0" dirty="0">
                <a:solidFill>
                  <a:srgbClr val="FFDE00"/>
                </a:solidFill>
                <a:latin typeface="Arial Black" pitchFamily="34" charset="0"/>
                <a:ea typeface="Arial Black" pitchFamily="34" charset="-122"/>
                <a:cs typeface="Arial Black" pitchFamily="34" charset="-120"/>
              </a:rPr>
              <a:t>SERVICE PROVIDER</a:t>
            </a:r>
            <a:endParaRPr lang="en-US" sz="900" dirty="0"/>
          </a:p>
        </p:txBody>
      </p:sp>
      <p:sp>
        <p:nvSpPr>
          <p:cNvPr id="7" name="Text 5"/>
          <p:cNvSpPr/>
          <p:nvPr/>
        </p:nvSpPr>
        <p:spPr>
          <a:xfrm>
            <a:off x="502920" y="1188720"/>
            <a:ext cx="3566160" cy="1600200"/>
          </a:xfrm>
          <a:prstGeom prst="rect">
            <a:avLst/>
          </a:prstGeom>
          <a:noFill/>
          <a:ln/>
        </p:spPr>
        <p:txBody>
          <a:bodyPr wrap="square" lIns="0" tIns="0" rIns="0" bIns="0" rtlCol="0" anchor="ctr"/>
          <a:lstStyle/>
          <a:p>
            <a:pPr indent="0" marL="0">
              <a:buNone/>
            </a:pPr>
            <a:r>
              <a:rPr lang="en-US" sz="1000" dirty="0">
                <a:solidFill>
                  <a:srgbClr val="111111"/>
                </a:solidFill>
                <a:latin typeface="Calibri" pitchFamily="34" charset="0"/>
                <a:ea typeface="Calibri" pitchFamily="34" charset="-122"/>
                <a:cs typeface="Calibri" pitchFamily="34" charset="-120"/>
              </a:rPr>
              <a:t>Bombay Media FZE</a:t>
            </a:r>
            <a:endParaRPr lang="en-US" sz="1000" dirty="0"/>
          </a:p>
          <a:p>
            <a:pPr indent="0" marL="0">
              <a:buNone/>
            </a:pPr>
            <a:r>
              <a:rPr lang="en-US" sz="1000" dirty="0">
                <a:solidFill>
                  <a:srgbClr val="111111"/>
                </a:solidFill>
                <a:latin typeface="Calibri" pitchFamily="34" charset="0"/>
                <a:ea typeface="Calibri" pitchFamily="34" charset="-122"/>
                <a:cs typeface="Calibri" pitchFamily="34" charset="-120"/>
              </a:rPr>
              <a:t>Dubai, United Arab Emirates</a:t>
            </a:r>
            <a:endParaRPr lang="en-US" sz="1000" dirty="0"/>
          </a:p>
          <a:p>
            <a:pPr indent="0" marL="0">
              <a:buNone/>
            </a:pPr>
            <a:r>
              <a:rPr lang="en-US" sz="1000" dirty="0">
                <a:solidFill>
                  <a:srgbClr val="111111"/>
                </a:solidFill>
                <a:latin typeface="Calibri" pitchFamily="34" charset="0"/>
                <a:ea typeface="Calibri" pitchFamily="34" charset="-122"/>
                <a:cs typeface="Calibri" pitchFamily="34" charset="-120"/>
              </a:rPr>
              <a:t>Farhan Rakhangi, Co-Founder &amp; Director of Growth</a:t>
            </a:r>
            <a:endParaRPr lang="en-US" sz="1000" dirty="0"/>
          </a:p>
          <a:p>
            <a:pPr indent="0" marL="0">
              <a:buNone/>
            </a:pPr>
            <a:r>
              <a:rPr lang="en-US" sz="1000" dirty="0">
                <a:solidFill>
                  <a:srgbClr val="111111"/>
                </a:solidFill>
                <a:latin typeface="Calibri" pitchFamily="34" charset="0"/>
                <a:ea typeface="Calibri" pitchFamily="34" charset="-122"/>
                <a:cs typeface="Calibri" pitchFamily="34" charset="-120"/>
              </a:rPr>
              <a:t>farhan@bombay-media.com</a:t>
            </a:r>
            <a:endParaRPr lang="en-US" sz="1000" dirty="0"/>
          </a:p>
          <a:p>
            <a:pPr indent="0" marL="0">
              <a:buNone/>
            </a:pPr>
            <a:r>
              <a:rPr lang="en-US" sz="1000" dirty="0">
                <a:solidFill>
                  <a:srgbClr val="111111"/>
                </a:solidFill>
                <a:latin typeface="Calibri" pitchFamily="34" charset="0"/>
                <a:ea typeface="Calibri" pitchFamily="34" charset="-122"/>
                <a:cs typeface="Calibri" pitchFamily="34" charset="-120"/>
              </a:rPr>
              <a:t>bmmediagrowth.com</a:t>
            </a:r>
            <a:endParaRPr lang="en-US" sz="1000" dirty="0"/>
          </a:p>
        </p:txBody>
      </p:sp>
      <p:sp>
        <p:nvSpPr>
          <p:cNvPr id="8" name="Shape 6"/>
          <p:cNvSpPr/>
          <p:nvPr/>
        </p:nvSpPr>
        <p:spPr>
          <a:xfrm>
            <a:off x="4572000" y="777240"/>
            <a:ext cx="3840480" cy="2194560"/>
          </a:xfrm>
          <a:prstGeom prst="rect">
            <a:avLst/>
          </a:prstGeom>
          <a:solidFill>
            <a:srgbClr val="F8F5FF"/>
          </a:solidFill>
          <a:ln w="12700">
            <a:solidFill>
              <a:srgbClr val="E5D9F2"/>
            </a:solidFill>
            <a:prstDash val="solid"/>
          </a:ln>
        </p:spPr>
        <p:txBody>
          <a:bodyPr/>
          <a:p/>
        </p:txBody>
      </p:sp>
      <p:sp>
        <p:nvSpPr>
          <p:cNvPr id="9" name="Shape 7"/>
          <p:cNvSpPr/>
          <p:nvPr/>
        </p:nvSpPr>
        <p:spPr>
          <a:xfrm>
            <a:off x="4572000" y="777240"/>
            <a:ext cx="3840480" cy="347472"/>
          </a:xfrm>
          <a:prstGeom prst="rect">
            <a:avLst/>
          </a:prstGeom>
          <a:solidFill>
            <a:srgbClr val="FFDE00"/>
          </a:solidFill>
          <a:ln w="12700">
            <a:solidFill>
              <a:srgbClr val="FFDE00"/>
            </a:solidFill>
            <a:prstDash val="solid"/>
          </a:ln>
        </p:spPr>
        <p:txBody>
          <a:bodyPr/>
          <a:p/>
        </p:txBody>
      </p:sp>
      <p:sp>
        <p:nvSpPr>
          <p:cNvPr id="10" name="Text 8"/>
          <p:cNvSpPr/>
          <p:nvPr/>
        </p:nvSpPr>
        <p:spPr>
          <a:xfrm>
            <a:off x="4572000" y="777240"/>
            <a:ext cx="3840480" cy="347472"/>
          </a:xfrm>
          <a:prstGeom prst="rect">
            <a:avLst/>
          </a:prstGeom>
          <a:noFill/>
          <a:ln/>
        </p:spPr>
        <p:txBody>
          <a:bodyPr wrap="square" lIns="0" tIns="0" rIns="0" bIns="0" rtlCol="0" anchor="ctr"/>
          <a:lstStyle/>
          <a:p>
            <a:pPr algn="ctr" indent="0" marL="0">
              <a:buNone/>
            </a:pPr>
            <a:r>
              <a:rPr lang="en-US" sz="900" b="1" spc="200" kern="0" dirty="0">
                <a:solidFill>
                  <a:srgbClr val="320753"/>
                </a:solidFill>
                <a:latin typeface="Arial Black" pitchFamily="34" charset="0"/>
                <a:ea typeface="Arial Black" pitchFamily="34" charset="-122"/>
                <a:cs typeface="Arial Black" pitchFamily="34" charset="-120"/>
              </a:rPr>
              <a:t>CLIENT</a:t>
            </a:r>
            <a:endParaRPr lang="en-US" sz="900" dirty="0"/>
          </a:p>
        </p:txBody>
      </p:sp>
      <p:sp>
        <p:nvSpPr>
          <p:cNvPr id="11" name="Text 9"/>
          <p:cNvSpPr/>
          <p:nvPr/>
        </p:nvSpPr>
        <p:spPr>
          <a:xfrm>
            <a:off x="4709160" y="1188720"/>
            <a:ext cx="3566160" cy="1600200"/>
          </a:xfrm>
          <a:prstGeom prst="rect">
            <a:avLst/>
          </a:prstGeom>
          <a:noFill/>
          <a:ln/>
        </p:spPr>
        <p:txBody>
          <a:bodyPr wrap="square" lIns="0" tIns="0" rIns="0" bIns="0" rtlCol="0" anchor="ctr"/>
          <a:lstStyle/>
          <a:p>
            <a:pPr indent="0" marL="0">
              <a:buNone/>
            </a:pPr>
            <a:r>
              <a:rPr lang="en-US" sz="1000" dirty="0">
                <a:solidFill>
                  <a:srgbClr val="111111"/>
                </a:solidFill>
                <a:latin typeface="Calibri" pitchFamily="34" charset="0"/>
                <a:ea typeface="Calibri" pitchFamily="34" charset="-122"/>
                <a:cs typeface="Calibri" pitchFamily="34" charset="-120"/>
              </a:rPr>
              <a:t>Test Client</a:t>
            </a:r>
            <a:endParaRPr lang="en-US" sz="1000" dirty="0"/>
          </a:p>
          <a:p>
            <a:pPr indent="0" marL="0">
              <a:buNone/>
            </a:pPr>
            <a:r>
              <a:rPr lang="en-US" sz="1000" dirty="0">
                <a:solidFill>
                  <a:srgbClr val="111111"/>
                </a:solidFill>
                <a:latin typeface="Calibri" pitchFamily="34" charset="0"/>
                <a:ea typeface="Calibri" pitchFamily="34" charset="-122"/>
                <a:cs typeface="Calibri" pitchFamily="34" charset="-120"/>
              </a:rPr>
              <a:t>Dubai, UAE</a:t>
            </a:r>
            <a:endParaRPr lang="en-US" sz="1000" dirty="0"/>
          </a:p>
          <a:p>
            <a:pPr indent="0" marL="0">
              <a:buNone/>
            </a:pPr>
            <a:r>
              <a:rPr lang="en-US" sz="1000" dirty="0">
                <a:solidFill>
                  <a:srgbClr val="111111"/>
                </a:solidFill>
                <a:latin typeface="Calibri" pitchFamily="34" charset="0"/>
                <a:ea typeface="Calibri" pitchFamily="34" charset="-122"/>
                <a:cs typeface="Calibri" pitchFamily="34" charset="-120"/>
              </a:rPr>
              <a:t>Test User, Founder</a:t>
            </a:r>
            <a:endParaRPr lang="en-US" sz="1000" dirty="0"/>
          </a:p>
          <a:p>
            <a:pPr indent="0" marL="0">
              <a:buNone/>
            </a:pPr>
            <a:r>
              <a:rPr lang="en-US" sz="1000" dirty="0">
                <a:solidFill>
                  <a:srgbClr val="111111"/>
                </a:solidFill>
                <a:latin typeface="Calibri" pitchFamily="34" charset="0"/>
                <a:ea typeface="Calibri" pitchFamily="34" charset="-122"/>
                <a:cs typeface="Calibri" pitchFamily="34" charset="-120"/>
              </a:rPr>
              <a:t>test@example.com</a:t>
            </a:r>
            <a:endParaRPr lang="en-US" sz="1000" dirty="0"/>
          </a:p>
          <a:p>
            <a:pPr indent="0" marL="0">
              <a:buNone/>
            </a:pPr>
            <a:r>
              <a:rPr lang="en-US" sz="1000" dirty="0">
                <a:solidFill>
                  <a:srgbClr val="111111"/>
                </a:solidFill>
                <a:latin typeface="Calibri" pitchFamily="34" charset="0"/>
                <a:ea typeface="Calibri" pitchFamily="34" charset="-122"/>
                <a:cs typeface="Calibri" pitchFamily="34" charset="-120"/>
              </a:rPr>
              <a:t/>
            </a:r>
            <a:endParaRPr lang="en-US" sz="1000" dirty="0"/>
          </a:p>
        </p:txBody>
      </p:sp>
      <p:sp>
        <p:nvSpPr>
          <p:cNvPr id="12" name="Text 10"/>
          <p:cNvSpPr/>
          <p:nvPr/>
        </p:nvSpPr>
        <p:spPr>
          <a:xfrm>
            <a:off x="365760" y="3108960"/>
            <a:ext cx="8229600" cy="320040"/>
          </a:xfrm>
          <a:prstGeom prst="rect">
            <a:avLst/>
          </a:prstGeom>
          <a:noFill/>
          <a:ln/>
        </p:spPr>
        <p:txBody>
          <a:bodyPr wrap="square" lIns="0" tIns="0" rIns="0" bIns="0" rtlCol="0" anchor="ctr"/>
          <a:lstStyle/>
          <a:p>
            <a:pPr indent="0" marL="0">
              <a:buNone/>
            </a:pPr>
            <a:r>
              <a:rPr lang="en-US" sz="1400" b="1" dirty="0">
                <a:solidFill>
                  <a:srgbClr val="320753"/>
                </a:solidFill>
                <a:latin typeface="Arial Black" pitchFamily="34" charset="0"/>
                <a:ea typeface="Arial Black" pitchFamily="34" charset="-122"/>
                <a:cs typeface="Arial Black" pitchFamily="34" charset="-120"/>
              </a:rPr>
              <a:t>Scope of Services</a:t>
            </a:r>
            <a:endParaRPr lang="en-US" sz="1400" dirty="0"/>
          </a:p>
        </p:txBody>
      </p:sp>
      <p:sp>
        <p:nvSpPr>
          <p:cNvPr id="13" name="Text 11"/>
          <p:cNvSpPr/>
          <p:nvPr/>
        </p:nvSpPr>
        <p:spPr>
          <a:xfrm>
            <a:off x="365760" y="3493008"/>
            <a:ext cx="8412480" cy="548640"/>
          </a:xfrm>
          <a:prstGeom prst="rect">
            <a:avLst/>
          </a:prstGeom>
          <a:noFill/>
          <a:ln/>
        </p:spPr>
        <p:txBody>
          <a:bodyPr wrap="square" lIns="0" tIns="0" rIns="0" bIns="0" rtlCol="0" anchor="ctr"/>
          <a:lstStyle/>
          <a:p>
            <a:pPr indent="0" marL="0">
              <a:buNone/>
            </a:pPr>
            <a:r>
              <a:rPr lang="en-US" sz="1050" dirty="0">
                <a:solidFill>
                  <a:srgbClr val="111111"/>
                </a:solidFill>
                <a:latin typeface="Calibri" pitchFamily="34" charset="0"/>
                <a:ea typeface="Calibri" pitchFamily="34" charset="-122"/>
                <a:cs typeface="Calibri" pitchFamily="34" charset="-120"/>
              </a:rPr>
              <a:t>Bombay Media agrees to deliver AI-powered Meta Ads management and content marketing services as outlined in the attached Statement of Work (SOW). </a:t>
            </a:r>
            <a:pPr indent="0" marL="0">
              <a:buNone/>
            </a:pPr>
            <a:r>
              <a:rPr lang="en-US" sz="1050" dirty="0">
                <a:solidFill>
                  <a:srgbClr val="111111"/>
                </a:solidFill>
                <a:latin typeface="Calibri" pitchFamily="34" charset="0"/>
                <a:ea typeface="Calibri" pitchFamily="34" charset="-122"/>
                <a:cs typeface="Calibri" pitchFamily="34" charset="-120"/>
              </a:rPr>
              <a:t>This agreement is governed by the terms below and the 90-day performance guarantee.</a:t>
            </a:r>
            <a:endParaRPr lang="en-US" sz="1050" dirty="0"/>
          </a:p>
        </p:txBody>
      </p:sp>
      <p:sp>
        <p:nvSpPr>
          <p:cNvPr id="14" name="Shape 12"/>
          <p:cNvSpPr/>
          <p:nvPr/>
        </p:nvSpPr>
        <p:spPr>
          <a:xfrm>
            <a:off x="0" y="4846320"/>
            <a:ext cx="9144000" cy="297180"/>
          </a:xfrm>
          <a:prstGeom prst="rect">
            <a:avLst/>
          </a:prstGeom>
          <a:solidFill>
            <a:srgbClr val="FFDE00"/>
          </a:solidFill>
          <a:ln w="12700">
            <a:solidFill>
              <a:srgbClr val="FFDE00"/>
            </a:solidFill>
            <a:prstDash val="solid"/>
          </a:ln>
        </p:spPr>
        <p:txBody>
          <a:bodyPr/>
          <a:p/>
        </p:txBody>
      </p:sp>
      <p:sp>
        <p:nvSpPr>
          <p:cNvPr id="15" name="Text 13"/>
          <p:cNvSpPr/>
          <p:nvPr/>
        </p:nvSpPr>
        <p:spPr>
          <a:xfrm>
            <a:off x="365760" y="4846320"/>
            <a:ext cx="8229600" cy="297180"/>
          </a:xfrm>
          <a:prstGeom prst="rect">
            <a:avLst/>
          </a:prstGeom>
          <a:noFill/>
          <a:ln/>
        </p:spPr>
        <p:txBody>
          <a:bodyPr wrap="square" lIns="0" tIns="0" rIns="0" bIns="0" rtlCol="0" anchor="ctr"/>
          <a:lstStyle/>
          <a:p>
            <a:pPr indent="0" marL="0">
              <a:buNone/>
            </a:pPr>
            <a:r>
              <a:rPr lang="en-US" sz="900" dirty="0">
                <a:solidFill>
                  <a:srgbClr val="320753"/>
                </a:solidFill>
                <a:latin typeface="Calibri" pitchFamily="34" charset="0"/>
                <a:ea typeface="Calibri" pitchFamily="34" charset="-122"/>
                <a:cs typeface="Calibri" pitchFamily="34" charset="-120"/>
              </a:rPr>
              <a:t>BM-2026-0614  |  bombay-media.com</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320753"/>
          </a:solidFill>
          <a:ln w="12700">
            <a:solidFill>
              <a:srgbClr val="320753"/>
            </a:solidFill>
            <a:prstDash val="solid"/>
          </a:ln>
        </p:spPr>
        <p:txBody>
          <a:bodyPr/>
          <a:p/>
        </p:txBody>
      </p:sp>
      <p:sp>
        <p:nvSpPr>
          <p:cNvPr id="3" name="Text 1"/>
          <p:cNvSpPr/>
          <p:nvPr/>
        </p:nvSpPr>
        <p:spPr>
          <a:xfrm>
            <a:off x="365760" y="0"/>
            <a:ext cx="8229600" cy="640080"/>
          </a:xfrm>
          <a:prstGeom prst="rect">
            <a:avLst/>
          </a:prstGeom>
          <a:noFill/>
          <a:ln/>
        </p:spPr>
        <p:txBody>
          <a:bodyPr wrap="square" lIns="0" tIns="0" rIns="0" bIns="0" rtlCol="0" anchor="ctr"/>
          <a:lstStyle/>
          <a:p>
            <a:pPr indent="0" marL="0">
              <a:buNone/>
            </a:pPr>
            <a:r>
              <a:rPr lang="en-US" sz="1200" b="1" spc="200" kern="0" dirty="0">
                <a:solidFill>
                  <a:srgbClr val="FFDE00"/>
                </a:solidFill>
                <a:latin typeface="Arial Black" pitchFamily="34" charset="0"/>
                <a:ea typeface="Arial Black" pitchFamily="34" charset="-122"/>
                <a:cs typeface="Arial Black" pitchFamily="34" charset="-120"/>
              </a:rPr>
              <a:t>2. DELIVERABLES &amp; FEES</a:t>
            </a:r>
            <a:endParaRPr lang="en-US" sz="1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365760" y="777240"/>
          <a:ext cx="8412480" cy="914400"/>
        </p:xfrm>
        <a:graphic>
          <a:graphicData uri="http://schemas.openxmlformats.org/drawingml/2006/table">
            <a:tbl>
              <a:tblPr/>
              <a:tblGrid>
                <a:gridCol w="2743200"/>
                <a:gridCol w="5669280"/>
              </a:tblGrid>
              <a:tr h="0">
                <a:tc>
                  <a:txBody>
                    <a:bodyPr/>
                    <a:lstStyle/>
                    <a:p>
                      <a:pPr indent="0" marL="0">
                        <a:buNone/>
                      </a:pPr>
                      <a:r>
                        <a:rPr lang="en-US" sz="900" b="1" dirty="0">
                          <a:solidFill>
                            <a:srgbClr val="FFFFFF"/>
                          </a:solidFill>
                          <a:latin typeface="Arial Black" pitchFamily="34" charset="0"/>
                          <a:ea typeface="Arial Black" pitchFamily="34" charset="-122"/>
                          <a:cs typeface="Arial Black" pitchFamily="34" charset="-120"/>
                        </a:rPr>
                        <a:t>Deliverable</a:t>
                      </a:r>
                      <a:endParaRPr lang="en-US" sz="900" dirty="0">
                        <a:latin typeface="Arial Black" charset="0"/>
                        <a:ea typeface="Arial Black" charset="0"/>
                        <a:cs typeface="Arial Black" charset="0"/>
                      </a:endParaRPr>
                    </a:p>
                  </a:txBody>
                  <a:tcPr marL="91440" marR="91440" marT="45720" marB="45720">
                    <a:lnL w="12700" cap="flat" cmpd="sng" algn="ctr">
                      <a:solidFill>
                        <a:srgbClr val="E5D9F2"/>
                      </a:solidFill>
                      <a:prstDash val="solid"/>
                      <a:round/>
                      <a:headEnd type="none" w="med" len="med"/>
                      <a:tailEnd type="none" w="med" len="med"/>
                    </a:lnL>
                    <a:lnR w="12700" cap="flat" cmpd="sng" algn="ctr">
                      <a:solidFill>
                        <a:srgbClr val="E5D9F2"/>
                      </a:solidFill>
                      <a:prstDash val="solid"/>
                      <a:round/>
                      <a:headEnd type="none" w="med" len="med"/>
                      <a:tailEnd type="none" w="med" len="med"/>
                    </a:lnR>
                    <a:lnT w="12700" cap="flat" cmpd="sng" algn="ctr">
                      <a:solidFill>
                        <a:srgbClr val="E5D9F2"/>
                      </a:solidFill>
                      <a:prstDash val="solid"/>
                      <a:round/>
                      <a:headEnd type="none" w="med" len="med"/>
                      <a:tailEnd type="none" w="med" len="med"/>
                    </a:lnT>
                    <a:lnB w="12700" cap="flat" cmpd="sng" algn="ctr">
                      <a:solidFill>
                        <a:srgbClr val="E5D9F2"/>
                      </a:solidFill>
                      <a:prstDash val="solid"/>
                      <a:round/>
                      <a:headEnd type="none" w="med" len="med"/>
                      <a:tailEnd type="none" w="med" len="med"/>
                    </a:lnB>
                    <a:solidFill>
                      <a:srgbClr val="320753"/>
                    </a:solidFill>
                  </a:tcPr>
                </a:tc>
                <a:tc>
                  <a:txBody>
                    <a:bodyPr/>
                    <a:lstStyle/>
                    <a:p>
                      <a:pPr indent="0" marL="0">
                        <a:buNone/>
                      </a:pPr>
                      <a:r>
                        <a:rPr lang="en-US" sz="900" b="1" dirty="0">
                          <a:solidFill>
                            <a:srgbClr val="FFFFFF"/>
                          </a:solidFill>
                          <a:latin typeface="Arial Black" pitchFamily="34" charset="0"/>
                          <a:ea typeface="Arial Black" pitchFamily="34" charset="-122"/>
                          <a:cs typeface="Arial Black" pitchFamily="34" charset="-120"/>
                        </a:rPr>
                        <a:t>Description</a:t>
                      </a:r>
                      <a:endParaRPr lang="en-US" sz="900" dirty="0">
                        <a:latin typeface="Arial Black" charset="0"/>
                        <a:ea typeface="Arial Black" charset="0"/>
                        <a:cs typeface="Arial Black" charset="0"/>
                      </a:endParaRPr>
                    </a:p>
                  </a:txBody>
                  <a:tcPr marL="91440" marR="91440" marT="45720" marB="45720">
                    <a:lnL w="12700" cap="flat" cmpd="sng" algn="ctr">
                      <a:solidFill>
                        <a:srgbClr val="E5D9F2"/>
                      </a:solidFill>
                      <a:prstDash val="solid"/>
                      <a:round/>
                      <a:headEnd type="none" w="med" len="med"/>
                      <a:tailEnd type="none" w="med" len="med"/>
                    </a:lnL>
                    <a:lnR w="12700" cap="flat" cmpd="sng" algn="ctr">
                      <a:solidFill>
                        <a:srgbClr val="E5D9F2"/>
                      </a:solidFill>
                      <a:prstDash val="solid"/>
                      <a:round/>
                      <a:headEnd type="none" w="med" len="med"/>
                      <a:tailEnd type="none" w="med" len="med"/>
                    </a:lnR>
                    <a:lnT w="12700" cap="flat" cmpd="sng" algn="ctr">
                      <a:solidFill>
                        <a:srgbClr val="E5D9F2"/>
                      </a:solidFill>
                      <a:prstDash val="solid"/>
                      <a:round/>
                      <a:headEnd type="none" w="med" len="med"/>
                      <a:tailEnd type="none" w="med" len="med"/>
                    </a:lnT>
                    <a:lnB w="12700" cap="flat" cmpd="sng" algn="ctr">
                      <a:solidFill>
                        <a:srgbClr val="E5D9F2"/>
                      </a:solidFill>
                      <a:prstDash val="solid"/>
                      <a:round/>
                      <a:headEnd type="none" w="med" len="med"/>
                      <a:tailEnd type="none" w="med" len="med"/>
                    </a:lnB>
                    <a:solidFill>
                      <a:srgbClr val="320753"/>
                    </a:solidFill>
                  </a:tcPr>
                </a:tc>
              </a:tr>
              <a:tr h="0">
                <a:tc>
                  <a:txBody>
                    <a:bodyPr/>
                    <a:lstStyle/>
                    <a:p>
                      <a:pPr indent="0" marL="0">
                        <a:buNone/>
                      </a:pPr>
                      <a:r>
                        <a:rPr lang="en-US" sz="950" dirty="0">
                          <a:solidFill>
                            <a:srgbClr val="111111"/>
                          </a:solidFill>
                          <a:latin typeface="Calibri" pitchFamily="34" charset="0"/>
                          <a:ea typeface="Calibri" pitchFamily="34" charset="-122"/>
                          <a:cs typeface="Calibri" pitchFamily="34" charset="-120"/>
                        </a:rPr>
                        <a:t>Meta Ads Management</a:t>
                      </a:r>
                      <a:endParaRPr lang="en-US" sz="950" dirty="0">
                        <a:latin typeface="Calibri" charset="0"/>
                        <a:ea typeface="Calibri" charset="0"/>
                        <a:cs typeface="Calibri" charset="0"/>
                      </a:endParaRPr>
                    </a:p>
                  </a:txBody>
                  <a:tcPr marL="91440" marR="91440" marT="45720" marB="45720">
                    <a:lnL w="12700" cap="flat" cmpd="sng" algn="ctr">
                      <a:solidFill>
                        <a:srgbClr val="E5D9F2"/>
                      </a:solidFill>
                      <a:prstDash val="solid"/>
                      <a:round/>
                      <a:headEnd type="none" w="med" len="med"/>
                      <a:tailEnd type="none" w="med" len="med"/>
                    </a:lnL>
                    <a:lnR w="12700" cap="flat" cmpd="sng" algn="ctr">
                      <a:solidFill>
                        <a:srgbClr val="E5D9F2"/>
                      </a:solidFill>
                      <a:prstDash val="solid"/>
                      <a:round/>
                      <a:headEnd type="none" w="med" len="med"/>
                      <a:tailEnd type="none" w="med" len="med"/>
                    </a:lnR>
                    <a:lnT w="12700" cap="flat" cmpd="sng" algn="ctr">
                      <a:solidFill>
                        <a:srgbClr val="E5D9F2"/>
                      </a:solidFill>
                      <a:prstDash val="solid"/>
                      <a:round/>
                      <a:headEnd type="none" w="med" len="med"/>
                      <a:tailEnd type="none" w="med" len="med"/>
                    </a:lnT>
                    <a:lnB w="12700" cap="flat" cmpd="sng" algn="ctr">
                      <a:solidFill>
                        <a:srgbClr val="E5D9F2"/>
                      </a:solidFill>
                      <a:prstDash val="solid"/>
                      <a:round/>
                      <a:headEnd type="none" w="med" len="med"/>
                      <a:tailEnd type="none" w="med" len="med"/>
                    </a:lnB>
                    <a:solidFill>
                      <a:srgbClr val="F8F5FF"/>
                    </a:solidFill>
                  </a:tcPr>
                </a:tc>
                <a:tc>
                  <a:txBody>
                    <a:bodyPr/>
                    <a:lstStyle/>
                    <a:p>
                      <a:pPr indent="0" marL="0">
                        <a:buNone/>
                      </a:pPr>
                      <a:r>
                        <a:rPr lang="en-US" sz="950" dirty="0">
                          <a:solidFill>
                            <a:srgbClr val="111111"/>
                          </a:solidFill>
                          <a:latin typeface="Calibri" pitchFamily="34" charset="0"/>
                          <a:ea typeface="Calibri" pitchFamily="34" charset="-122"/>
                          <a:cs typeface="Calibri" pitchFamily="34" charset="-120"/>
                        </a:rPr>
                        <a:t>Full campaign setup, creative testing, audience optimisation, weekly reporting</a:t>
                      </a:r>
                      <a:endParaRPr lang="en-US" sz="950" dirty="0">
                        <a:latin typeface="Calibri" charset="0"/>
                        <a:ea typeface="Calibri" charset="0"/>
                        <a:cs typeface="Calibri" charset="0"/>
                      </a:endParaRPr>
                    </a:p>
                  </a:txBody>
                  <a:tcPr marL="91440" marR="91440" marT="45720" marB="45720">
                    <a:lnL w="12700" cap="flat" cmpd="sng" algn="ctr">
                      <a:solidFill>
                        <a:srgbClr val="E5D9F2"/>
                      </a:solidFill>
                      <a:prstDash val="solid"/>
                      <a:round/>
                      <a:headEnd type="none" w="med" len="med"/>
                      <a:tailEnd type="none" w="med" len="med"/>
                    </a:lnL>
                    <a:lnR w="12700" cap="flat" cmpd="sng" algn="ctr">
                      <a:solidFill>
                        <a:srgbClr val="E5D9F2"/>
                      </a:solidFill>
                      <a:prstDash val="solid"/>
                      <a:round/>
                      <a:headEnd type="none" w="med" len="med"/>
                      <a:tailEnd type="none" w="med" len="med"/>
                    </a:lnR>
                    <a:lnT w="12700" cap="flat" cmpd="sng" algn="ctr">
                      <a:solidFill>
                        <a:srgbClr val="E5D9F2"/>
                      </a:solidFill>
                      <a:prstDash val="solid"/>
                      <a:round/>
                      <a:headEnd type="none" w="med" len="med"/>
                      <a:tailEnd type="none" w="med" len="med"/>
                    </a:lnT>
                    <a:lnB w="12700" cap="flat" cmpd="sng" algn="ctr">
                      <a:solidFill>
                        <a:srgbClr val="E5D9F2"/>
                      </a:solidFill>
                      <a:prstDash val="solid"/>
                      <a:round/>
                      <a:headEnd type="none" w="med" len="med"/>
                      <a:tailEnd type="none" w="med" len="med"/>
                    </a:lnB>
                    <a:solidFill>
                      <a:srgbClr val="F8F5FF"/>
                    </a:solidFill>
                  </a:tcPr>
                </a:tc>
              </a:tr>
              <a:tr h="0">
                <a:tc>
                  <a:txBody>
                    <a:bodyPr/>
                    <a:lstStyle/>
                    <a:p>
                      <a:pPr indent="0" marL="0">
                        <a:buNone/>
                      </a:pPr>
                      <a:r>
                        <a:rPr lang="en-US" sz="950" dirty="0">
                          <a:solidFill>
                            <a:srgbClr val="111111"/>
                          </a:solidFill>
                          <a:latin typeface="Calibri" pitchFamily="34" charset="0"/>
                          <a:ea typeface="Calibri" pitchFamily="34" charset="-122"/>
                          <a:cs typeface="Calibri" pitchFamily="34" charset="-120"/>
                        </a:rPr>
                        <a:t>Content Marketing</a:t>
                      </a:r>
                      <a:endParaRPr lang="en-US" sz="950" dirty="0">
                        <a:latin typeface="Calibri" charset="0"/>
                        <a:ea typeface="Calibri" charset="0"/>
                        <a:cs typeface="Calibri" charset="0"/>
                      </a:endParaRPr>
                    </a:p>
                  </a:txBody>
                  <a:tcPr marL="91440" marR="91440" marT="45720" marB="45720">
                    <a:lnL w="12700" cap="flat" cmpd="sng" algn="ctr">
                      <a:solidFill>
                        <a:srgbClr val="E5D9F2"/>
                      </a:solidFill>
                      <a:prstDash val="solid"/>
                      <a:round/>
                      <a:headEnd type="none" w="med" len="med"/>
                      <a:tailEnd type="none" w="med" len="med"/>
                    </a:lnL>
                    <a:lnR w="12700" cap="flat" cmpd="sng" algn="ctr">
                      <a:solidFill>
                        <a:srgbClr val="E5D9F2"/>
                      </a:solidFill>
                      <a:prstDash val="solid"/>
                      <a:round/>
                      <a:headEnd type="none" w="med" len="med"/>
                      <a:tailEnd type="none" w="med" len="med"/>
                    </a:lnR>
                    <a:lnT w="12700" cap="flat" cmpd="sng" algn="ctr">
                      <a:solidFill>
                        <a:srgbClr val="E5D9F2"/>
                      </a:solidFill>
                      <a:prstDash val="solid"/>
                      <a:round/>
                      <a:headEnd type="none" w="med" len="med"/>
                      <a:tailEnd type="none" w="med" len="med"/>
                    </a:lnT>
                    <a:lnB w="12700" cap="flat" cmpd="sng" algn="ctr">
                      <a:solidFill>
                        <a:srgbClr val="E5D9F2"/>
                      </a:solidFill>
                      <a:prstDash val="solid"/>
                      <a:round/>
                      <a:headEnd type="none" w="med" len="med"/>
                      <a:tailEnd type="none" w="med" len="med"/>
                    </a:lnB>
                    <a:solidFill>
                      <a:srgbClr val="F8F5FF"/>
                    </a:solidFill>
                  </a:tcPr>
                </a:tc>
                <a:tc>
                  <a:txBody>
                    <a:bodyPr/>
                    <a:lstStyle/>
                    <a:p>
                      <a:pPr indent="0" marL="0">
                        <a:buNone/>
                      </a:pPr>
                      <a:r>
                        <a:rPr lang="en-US" sz="950" dirty="0">
                          <a:solidFill>
                            <a:srgbClr val="111111"/>
                          </a:solidFill>
                          <a:latin typeface="Calibri" pitchFamily="34" charset="0"/>
                          <a:ea typeface="Calibri" pitchFamily="34" charset="-122"/>
                          <a:cs typeface="Calibri" pitchFamily="34" charset="-120"/>
                        </a:rPr>
                        <a:t>AI-generated ad creatives, carousel assets, copy, monthly content calendar</a:t>
                      </a:r>
                      <a:endParaRPr lang="en-US" sz="950" dirty="0">
                        <a:latin typeface="Calibri" charset="0"/>
                        <a:ea typeface="Calibri" charset="0"/>
                        <a:cs typeface="Calibri" charset="0"/>
                      </a:endParaRPr>
                    </a:p>
                  </a:txBody>
                  <a:tcPr marL="91440" marR="91440" marT="45720" marB="45720">
                    <a:lnL w="12700" cap="flat" cmpd="sng" algn="ctr">
                      <a:solidFill>
                        <a:srgbClr val="E5D9F2"/>
                      </a:solidFill>
                      <a:prstDash val="solid"/>
                      <a:round/>
                      <a:headEnd type="none" w="med" len="med"/>
                      <a:tailEnd type="none" w="med" len="med"/>
                    </a:lnL>
                    <a:lnR w="12700" cap="flat" cmpd="sng" algn="ctr">
                      <a:solidFill>
                        <a:srgbClr val="E5D9F2"/>
                      </a:solidFill>
                      <a:prstDash val="solid"/>
                      <a:round/>
                      <a:headEnd type="none" w="med" len="med"/>
                      <a:tailEnd type="none" w="med" len="med"/>
                    </a:lnR>
                    <a:lnT w="12700" cap="flat" cmpd="sng" algn="ctr">
                      <a:solidFill>
                        <a:srgbClr val="E5D9F2"/>
                      </a:solidFill>
                      <a:prstDash val="solid"/>
                      <a:round/>
                      <a:headEnd type="none" w="med" len="med"/>
                      <a:tailEnd type="none" w="med" len="med"/>
                    </a:lnT>
                    <a:lnB w="12700" cap="flat" cmpd="sng" algn="ctr">
                      <a:solidFill>
                        <a:srgbClr val="E5D9F2"/>
                      </a:solidFill>
                      <a:prstDash val="solid"/>
                      <a:round/>
                      <a:headEnd type="none" w="med" len="med"/>
                      <a:tailEnd type="none" w="med" len="med"/>
                    </a:lnB>
                    <a:solidFill>
                      <a:srgbClr val="F8F5FF"/>
                    </a:solidFill>
                  </a:tcPr>
                </a:tc>
              </a:tr>
              <a:tr h="0">
                <a:tc>
                  <a:txBody>
                    <a:bodyPr/>
                    <a:lstStyle/>
                    <a:p>
                      <a:pPr indent="0" marL="0">
                        <a:buNone/>
                      </a:pPr>
                      <a:r>
                        <a:rPr lang="en-US" sz="950" dirty="0">
                          <a:solidFill>
                            <a:srgbClr val="111111"/>
                          </a:solidFill>
                          <a:latin typeface="Calibri" pitchFamily="34" charset="0"/>
                          <a:ea typeface="Calibri" pitchFamily="34" charset="-122"/>
                          <a:cs typeface="Calibri" pitchFamily="34" charset="-120"/>
                        </a:rPr>
                        <a:t>Analytics &amp; Reporting</a:t>
                      </a:r>
                      <a:endParaRPr lang="en-US" sz="950" dirty="0">
                        <a:latin typeface="Calibri" charset="0"/>
                        <a:ea typeface="Calibri" charset="0"/>
                        <a:cs typeface="Calibri" charset="0"/>
                      </a:endParaRPr>
                    </a:p>
                  </a:txBody>
                  <a:tcPr marL="91440" marR="91440" marT="45720" marB="45720">
                    <a:lnL w="12700" cap="flat" cmpd="sng" algn="ctr">
                      <a:solidFill>
                        <a:srgbClr val="E5D9F2"/>
                      </a:solidFill>
                      <a:prstDash val="solid"/>
                      <a:round/>
                      <a:headEnd type="none" w="med" len="med"/>
                      <a:tailEnd type="none" w="med" len="med"/>
                    </a:lnL>
                    <a:lnR w="12700" cap="flat" cmpd="sng" algn="ctr">
                      <a:solidFill>
                        <a:srgbClr val="E5D9F2"/>
                      </a:solidFill>
                      <a:prstDash val="solid"/>
                      <a:round/>
                      <a:headEnd type="none" w="med" len="med"/>
                      <a:tailEnd type="none" w="med" len="med"/>
                    </a:lnR>
                    <a:lnT w="12700" cap="flat" cmpd="sng" algn="ctr">
                      <a:solidFill>
                        <a:srgbClr val="E5D9F2"/>
                      </a:solidFill>
                      <a:prstDash val="solid"/>
                      <a:round/>
                      <a:headEnd type="none" w="med" len="med"/>
                      <a:tailEnd type="none" w="med" len="med"/>
                    </a:lnT>
                    <a:lnB w="12700" cap="flat" cmpd="sng" algn="ctr">
                      <a:solidFill>
                        <a:srgbClr val="E5D9F2"/>
                      </a:solidFill>
                      <a:prstDash val="solid"/>
                      <a:round/>
                      <a:headEnd type="none" w="med" len="med"/>
                      <a:tailEnd type="none" w="med" len="med"/>
                    </a:lnB>
                    <a:solidFill>
                      <a:srgbClr val="F8F5FF"/>
                    </a:solidFill>
                  </a:tcPr>
                </a:tc>
                <a:tc>
                  <a:txBody>
                    <a:bodyPr/>
                    <a:lstStyle/>
                    <a:p>
                      <a:pPr indent="0" marL="0">
                        <a:buNone/>
                      </a:pPr>
                      <a:r>
                        <a:rPr lang="en-US" sz="950" dirty="0">
                          <a:solidFill>
                            <a:srgbClr val="111111"/>
                          </a:solidFill>
                          <a:latin typeface="Calibri" pitchFamily="34" charset="0"/>
                          <a:ea typeface="Calibri" pitchFamily="34" charset="-122"/>
                          <a:cs typeface="Calibri" pitchFamily="34" charset="-120"/>
                        </a:rPr>
                        <a:t>Weekly ROAS dashboard, monthly performance review call with Farhan directly</a:t>
                      </a:r>
                      <a:endParaRPr lang="en-US" sz="950" dirty="0">
                        <a:latin typeface="Calibri" charset="0"/>
                        <a:ea typeface="Calibri" charset="0"/>
                        <a:cs typeface="Calibri" charset="0"/>
                      </a:endParaRPr>
                    </a:p>
                  </a:txBody>
                  <a:tcPr marL="91440" marR="91440" marT="45720" marB="45720">
                    <a:lnL w="12700" cap="flat" cmpd="sng" algn="ctr">
                      <a:solidFill>
                        <a:srgbClr val="E5D9F2"/>
                      </a:solidFill>
                      <a:prstDash val="solid"/>
                      <a:round/>
                      <a:headEnd type="none" w="med" len="med"/>
                      <a:tailEnd type="none" w="med" len="med"/>
                    </a:lnL>
                    <a:lnR w="12700" cap="flat" cmpd="sng" algn="ctr">
                      <a:solidFill>
                        <a:srgbClr val="E5D9F2"/>
                      </a:solidFill>
                      <a:prstDash val="solid"/>
                      <a:round/>
                      <a:headEnd type="none" w="med" len="med"/>
                      <a:tailEnd type="none" w="med" len="med"/>
                    </a:lnR>
                    <a:lnT w="12700" cap="flat" cmpd="sng" algn="ctr">
                      <a:solidFill>
                        <a:srgbClr val="E5D9F2"/>
                      </a:solidFill>
                      <a:prstDash val="solid"/>
                      <a:round/>
                      <a:headEnd type="none" w="med" len="med"/>
                      <a:tailEnd type="none" w="med" len="med"/>
                    </a:lnT>
                    <a:lnB w="12700" cap="flat" cmpd="sng" algn="ctr">
                      <a:solidFill>
                        <a:srgbClr val="E5D9F2"/>
                      </a:solidFill>
                      <a:prstDash val="solid"/>
                      <a:round/>
                      <a:headEnd type="none" w="med" len="med"/>
                      <a:tailEnd type="none" w="med" len="med"/>
                    </a:lnB>
                    <a:solidFill>
                      <a:srgbClr val="F8F5FF"/>
                    </a:solidFill>
                  </a:tcPr>
                </a:tc>
              </a:tr>
              <a:tr h="0">
                <a:tc>
                  <a:txBody>
                    <a:bodyPr/>
                    <a:lstStyle/>
                    <a:p>
                      <a:pPr indent="0" marL="0">
                        <a:buNone/>
                      </a:pPr>
                      <a:r>
                        <a:rPr lang="en-US" sz="950" dirty="0">
                          <a:solidFill>
                            <a:srgbClr val="111111"/>
                          </a:solidFill>
                          <a:latin typeface="Calibri" pitchFamily="34" charset="0"/>
                          <a:ea typeface="Calibri" pitchFamily="34" charset="-122"/>
                          <a:cs typeface="Calibri" pitchFamily="34" charset="-120"/>
                        </a:rPr>
                        <a:t>Strategy &amp; Optimisation</a:t>
                      </a:r>
                      <a:endParaRPr lang="en-US" sz="950" dirty="0">
                        <a:latin typeface="Calibri" charset="0"/>
                        <a:ea typeface="Calibri" charset="0"/>
                        <a:cs typeface="Calibri" charset="0"/>
                      </a:endParaRPr>
                    </a:p>
                  </a:txBody>
                  <a:tcPr marL="91440" marR="91440" marT="45720" marB="45720">
                    <a:lnL w="12700" cap="flat" cmpd="sng" algn="ctr">
                      <a:solidFill>
                        <a:srgbClr val="E5D9F2"/>
                      </a:solidFill>
                      <a:prstDash val="solid"/>
                      <a:round/>
                      <a:headEnd type="none" w="med" len="med"/>
                      <a:tailEnd type="none" w="med" len="med"/>
                    </a:lnL>
                    <a:lnR w="12700" cap="flat" cmpd="sng" algn="ctr">
                      <a:solidFill>
                        <a:srgbClr val="E5D9F2"/>
                      </a:solidFill>
                      <a:prstDash val="solid"/>
                      <a:round/>
                      <a:headEnd type="none" w="med" len="med"/>
                      <a:tailEnd type="none" w="med" len="med"/>
                    </a:lnR>
                    <a:lnT w="12700" cap="flat" cmpd="sng" algn="ctr">
                      <a:solidFill>
                        <a:srgbClr val="E5D9F2"/>
                      </a:solidFill>
                      <a:prstDash val="solid"/>
                      <a:round/>
                      <a:headEnd type="none" w="med" len="med"/>
                      <a:tailEnd type="none" w="med" len="med"/>
                    </a:lnT>
                    <a:lnB w="12700" cap="flat" cmpd="sng" algn="ctr">
                      <a:solidFill>
                        <a:srgbClr val="E5D9F2"/>
                      </a:solidFill>
                      <a:prstDash val="solid"/>
                      <a:round/>
                      <a:headEnd type="none" w="med" len="med"/>
                      <a:tailEnd type="none" w="med" len="med"/>
                    </a:lnB>
                    <a:solidFill>
                      <a:srgbClr val="F8F5FF"/>
                    </a:solidFill>
                  </a:tcPr>
                </a:tc>
                <a:tc>
                  <a:txBody>
                    <a:bodyPr/>
                    <a:lstStyle/>
                    <a:p>
                      <a:pPr indent="0" marL="0">
                        <a:buNone/>
                      </a:pPr>
                      <a:r>
                        <a:rPr lang="en-US" sz="950" dirty="0">
                          <a:solidFill>
                            <a:srgbClr val="111111"/>
                          </a:solidFill>
                          <a:latin typeface="Calibri" pitchFamily="34" charset="0"/>
                          <a:ea typeface="Calibri" pitchFamily="34" charset="-122"/>
                          <a:cs typeface="Calibri" pitchFamily="34" charset="-120"/>
                        </a:rPr>
                        <a:t>A/B test cycles, funnel audits, spend reallocation recommendations</a:t>
                      </a:r>
                      <a:endParaRPr lang="en-US" sz="950" dirty="0">
                        <a:latin typeface="Calibri" charset="0"/>
                        <a:ea typeface="Calibri" charset="0"/>
                        <a:cs typeface="Calibri" charset="0"/>
                      </a:endParaRPr>
                    </a:p>
                  </a:txBody>
                  <a:tcPr marL="91440" marR="91440" marT="45720" marB="45720">
                    <a:lnL w="12700" cap="flat" cmpd="sng" algn="ctr">
                      <a:solidFill>
                        <a:srgbClr val="E5D9F2"/>
                      </a:solidFill>
                      <a:prstDash val="solid"/>
                      <a:round/>
                      <a:headEnd type="none" w="med" len="med"/>
                      <a:tailEnd type="none" w="med" len="med"/>
                    </a:lnL>
                    <a:lnR w="12700" cap="flat" cmpd="sng" algn="ctr">
                      <a:solidFill>
                        <a:srgbClr val="E5D9F2"/>
                      </a:solidFill>
                      <a:prstDash val="solid"/>
                      <a:round/>
                      <a:headEnd type="none" w="med" len="med"/>
                      <a:tailEnd type="none" w="med" len="med"/>
                    </a:lnR>
                    <a:lnT w="12700" cap="flat" cmpd="sng" algn="ctr">
                      <a:solidFill>
                        <a:srgbClr val="E5D9F2"/>
                      </a:solidFill>
                      <a:prstDash val="solid"/>
                      <a:round/>
                      <a:headEnd type="none" w="med" len="med"/>
                      <a:tailEnd type="none" w="med" len="med"/>
                    </a:lnT>
                    <a:lnB w="12700" cap="flat" cmpd="sng" algn="ctr">
                      <a:solidFill>
                        <a:srgbClr val="E5D9F2"/>
                      </a:solidFill>
                      <a:prstDash val="solid"/>
                      <a:round/>
                      <a:headEnd type="none" w="med" len="med"/>
                      <a:tailEnd type="none" w="med" len="med"/>
                    </a:lnB>
                    <a:solidFill>
                      <a:srgbClr val="F8F5FF"/>
                    </a:solidFill>
                  </a:tcPr>
                </a:tc>
              </a:tr>
            </a:tbl>
          </a:graphicData>
        </a:graphic>
      </p:graphicFrame>
      <p:sp>
        <p:nvSpPr>
          <p:cNvPr id="5" name="Text 2"/>
          <p:cNvSpPr/>
          <p:nvPr/>
        </p:nvSpPr>
        <p:spPr>
          <a:xfrm>
            <a:off x="365760" y="3017520"/>
            <a:ext cx="8229600" cy="347472"/>
          </a:xfrm>
          <a:prstGeom prst="rect">
            <a:avLst/>
          </a:prstGeom>
          <a:noFill/>
          <a:ln/>
        </p:spPr>
        <p:txBody>
          <a:bodyPr wrap="square" lIns="0" tIns="0" rIns="0" bIns="0" rtlCol="0" anchor="ctr"/>
          <a:lstStyle/>
          <a:p>
            <a:pPr indent="0" marL="0">
              <a:buNone/>
            </a:pPr>
            <a:r>
              <a:rPr lang="en-US" sz="1400" b="1" dirty="0">
                <a:solidFill>
                  <a:srgbClr val="320753"/>
                </a:solidFill>
                <a:latin typeface="Arial Black" pitchFamily="34" charset="0"/>
                <a:ea typeface="Arial Black" pitchFamily="34" charset="-122"/>
                <a:cs typeface="Arial Black" pitchFamily="34" charset="-120"/>
              </a:rPr>
              <a:t>Investment</a:t>
            </a:r>
            <a:endParaRPr lang="en-US" sz="1400" dirty="0"/>
          </a:p>
        </p:txBody>
      </p:sp>
      <p:graphicFrame>
        <p:nvGraphicFramePr>
          <p:cNvPr id="7" name="Table 1"/>
          <p:cNvGraphicFramePr>
            <a:graphicFrameLocks noGrp="1"/>
          </p:cNvGraphicFramePr>
          <p:nvPr>
            <p:extLst>
              <p:ext uri="{D42A27DB-BD31-4B8C-83A1-F6EECF244321}">
                <p14:modId xmlns:p14="http://schemas.microsoft.com/office/powerpoint/2010/main" val="1579011935"/>
              </p:ext>
            </p:extLst>
          </p:nvPr>
        </p:nvGraphicFramePr>
        <p:xfrm>
          <a:off x="365760" y="3429000"/>
          <a:ext cx="8412480" cy="914400"/>
        </p:xfrm>
        <a:graphic>
          <a:graphicData uri="http://schemas.openxmlformats.org/drawingml/2006/table">
            <a:tbl>
              <a:tblPr/>
              <a:tblGrid>
                <a:gridCol w="3200400"/>
                <a:gridCol w="2286000"/>
                <a:gridCol w="2926080"/>
              </a:tblGrid>
              <a:tr h="0">
                <a:tc>
                  <a:txBody>
                    <a:bodyPr/>
                    <a:lstStyle/>
                    <a:p>
                      <a:pPr indent="0" marL="0">
                        <a:buNone/>
                      </a:pPr>
                      <a:r>
                        <a:rPr lang="en-US" sz="900" b="1" dirty="0">
                          <a:solidFill>
                            <a:srgbClr val="FFFFFF"/>
                          </a:solidFill>
                          <a:latin typeface="Arial Black" pitchFamily="34" charset="0"/>
                          <a:ea typeface="Arial Black" pitchFamily="34" charset="-122"/>
                          <a:cs typeface="Arial Black" pitchFamily="34" charset="-120"/>
                        </a:rPr>
                        <a:t>Fee Item</a:t>
                      </a:r>
                      <a:endParaRPr lang="en-US" sz="900" dirty="0">
                        <a:latin typeface="Arial Black" charset="0"/>
                        <a:ea typeface="Arial Black" charset="0"/>
                        <a:cs typeface="Arial Black" charset="0"/>
                      </a:endParaRPr>
                    </a:p>
                  </a:txBody>
                  <a:tcPr marL="91440" marR="91440" marT="45720" marB="45720">
                    <a:lnL w="12700" cap="flat" cmpd="sng" algn="ctr">
                      <a:solidFill>
                        <a:srgbClr val="E5D9F2"/>
                      </a:solidFill>
                      <a:prstDash val="solid"/>
                      <a:round/>
                      <a:headEnd type="none" w="med" len="med"/>
                      <a:tailEnd type="none" w="med" len="med"/>
                    </a:lnL>
                    <a:lnR w="12700" cap="flat" cmpd="sng" algn="ctr">
                      <a:solidFill>
                        <a:srgbClr val="E5D9F2"/>
                      </a:solidFill>
                      <a:prstDash val="solid"/>
                      <a:round/>
                      <a:headEnd type="none" w="med" len="med"/>
                      <a:tailEnd type="none" w="med" len="med"/>
                    </a:lnR>
                    <a:lnT w="12700" cap="flat" cmpd="sng" algn="ctr">
                      <a:solidFill>
                        <a:srgbClr val="E5D9F2"/>
                      </a:solidFill>
                      <a:prstDash val="solid"/>
                      <a:round/>
                      <a:headEnd type="none" w="med" len="med"/>
                      <a:tailEnd type="none" w="med" len="med"/>
                    </a:lnT>
                    <a:lnB w="12700" cap="flat" cmpd="sng" algn="ctr">
                      <a:solidFill>
                        <a:srgbClr val="E5D9F2"/>
                      </a:solidFill>
                      <a:prstDash val="solid"/>
                      <a:round/>
                      <a:headEnd type="none" w="med" len="med"/>
                      <a:tailEnd type="none" w="med" len="med"/>
                    </a:lnB>
                    <a:solidFill>
                      <a:srgbClr val="37245C"/>
                    </a:solidFill>
                  </a:tcPr>
                </a:tc>
                <a:tc>
                  <a:txBody>
                    <a:bodyPr/>
                    <a:lstStyle/>
                    <a:p>
                      <a:pPr indent="0" marL="0">
                        <a:buNone/>
                      </a:pPr>
                      <a:r>
                        <a:rPr lang="en-US" sz="900" b="1" dirty="0">
                          <a:solidFill>
                            <a:srgbClr val="FFFFFF"/>
                          </a:solidFill>
                          <a:latin typeface="Arial Black" pitchFamily="34" charset="0"/>
                          <a:ea typeface="Arial Black" pitchFamily="34" charset="-122"/>
                          <a:cs typeface="Arial Black" pitchFamily="34" charset="-120"/>
                        </a:rPr>
                        <a:t>Amount</a:t>
                      </a:r>
                      <a:endParaRPr lang="en-US" sz="900" dirty="0">
                        <a:latin typeface="Arial Black" charset="0"/>
                        <a:ea typeface="Arial Black" charset="0"/>
                        <a:cs typeface="Arial Black" charset="0"/>
                      </a:endParaRPr>
                    </a:p>
                  </a:txBody>
                  <a:tcPr marL="91440" marR="91440" marT="45720" marB="45720">
                    <a:lnL w="12700" cap="flat" cmpd="sng" algn="ctr">
                      <a:solidFill>
                        <a:srgbClr val="E5D9F2"/>
                      </a:solidFill>
                      <a:prstDash val="solid"/>
                      <a:round/>
                      <a:headEnd type="none" w="med" len="med"/>
                      <a:tailEnd type="none" w="med" len="med"/>
                    </a:lnL>
                    <a:lnR w="12700" cap="flat" cmpd="sng" algn="ctr">
                      <a:solidFill>
                        <a:srgbClr val="E5D9F2"/>
                      </a:solidFill>
                      <a:prstDash val="solid"/>
                      <a:round/>
                      <a:headEnd type="none" w="med" len="med"/>
                      <a:tailEnd type="none" w="med" len="med"/>
                    </a:lnR>
                    <a:lnT w="12700" cap="flat" cmpd="sng" algn="ctr">
                      <a:solidFill>
                        <a:srgbClr val="E5D9F2"/>
                      </a:solidFill>
                      <a:prstDash val="solid"/>
                      <a:round/>
                      <a:headEnd type="none" w="med" len="med"/>
                      <a:tailEnd type="none" w="med" len="med"/>
                    </a:lnT>
                    <a:lnB w="12700" cap="flat" cmpd="sng" algn="ctr">
                      <a:solidFill>
                        <a:srgbClr val="E5D9F2"/>
                      </a:solidFill>
                      <a:prstDash val="solid"/>
                      <a:round/>
                      <a:headEnd type="none" w="med" len="med"/>
                      <a:tailEnd type="none" w="med" len="med"/>
                    </a:lnB>
                    <a:solidFill>
                      <a:srgbClr val="37245C"/>
                    </a:solidFill>
                  </a:tcPr>
                </a:tc>
                <a:tc>
                  <a:txBody>
                    <a:bodyPr/>
                    <a:lstStyle/>
                    <a:p>
                      <a:pPr indent="0" marL="0">
                        <a:buNone/>
                      </a:pPr>
                      <a:r>
                        <a:rPr lang="en-US" sz="900" b="1" dirty="0">
                          <a:solidFill>
                            <a:srgbClr val="FFFFFF"/>
                          </a:solidFill>
                          <a:latin typeface="Arial Black" pitchFamily="34" charset="0"/>
                          <a:ea typeface="Arial Black" pitchFamily="34" charset="-122"/>
                          <a:cs typeface="Arial Black" pitchFamily="34" charset="-120"/>
                        </a:rPr>
                        <a:t>Payment Terms</a:t>
                      </a:r>
                      <a:endParaRPr lang="en-US" sz="900" dirty="0">
                        <a:latin typeface="Arial Black" charset="0"/>
                        <a:ea typeface="Arial Black" charset="0"/>
                        <a:cs typeface="Arial Black" charset="0"/>
                      </a:endParaRPr>
                    </a:p>
                  </a:txBody>
                  <a:tcPr marL="91440" marR="91440" marT="45720" marB="45720">
                    <a:lnL w="12700" cap="flat" cmpd="sng" algn="ctr">
                      <a:solidFill>
                        <a:srgbClr val="E5D9F2"/>
                      </a:solidFill>
                      <a:prstDash val="solid"/>
                      <a:round/>
                      <a:headEnd type="none" w="med" len="med"/>
                      <a:tailEnd type="none" w="med" len="med"/>
                    </a:lnL>
                    <a:lnR w="12700" cap="flat" cmpd="sng" algn="ctr">
                      <a:solidFill>
                        <a:srgbClr val="E5D9F2"/>
                      </a:solidFill>
                      <a:prstDash val="solid"/>
                      <a:round/>
                      <a:headEnd type="none" w="med" len="med"/>
                      <a:tailEnd type="none" w="med" len="med"/>
                    </a:lnR>
                    <a:lnT w="12700" cap="flat" cmpd="sng" algn="ctr">
                      <a:solidFill>
                        <a:srgbClr val="E5D9F2"/>
                      </a:solidFill>
                      <a:prstDash val="solid"/>
                      <a:round/>
                      <a:headEnd type="none" w="med" len="med"/>
                      <a:tailEnd type="none" w="med" len="med"/>
                    </a:lnT>
                    <a:lnB w="12700" cap="flat" cmpd="sng" algn="ctr">
                      <a:solidFill>
                        <a:srgbClr val="E5D9F2"/>
                      </a:solidFill>
                      <a:prstDash val="solid"/>
                      <a:round/>
                      <a:headEnd type="none" w="med" len="med"/>
                      <a:tailEnd type="none" w="med" len="med"/>
                    </a:lnB>
                    <a:solidFill>
                      <a:srgbClr val="37245C"/>
                    </a:solidFill>
                  </a:tcPr>
                </a:tc>
              </a:tr>
              <a:tr h="0">
                <a:tc>
                  <a:txBody>
                    <a:bodyPr/>
                    <a:lstStyle/>
                    <a:p>
                      <a:pPr algn="l" indent="0" marL="0">
                        <a:buNone/>
                      </a:pPr>
                      <a:r>
                        <a:rPr lang="en-US" sz="950" dirty="0">
                          <a:solidFill>
                            <a:srgbClr val="111111"/>
                          </a:solidFill>
                          <a:latin typeface="Calibri" pitchFamily="34" charset="0"/>
                          <a:ea typeface="Calibri" pitchFamily="34" charset="-122"/>
                          <a:cs typeface="Calibri" pitchFamily="34" charset="-120"/>
                        </a:rPr>
                        <a:t>Setup Fee (one-time)</a:t>
                      </a:r>
                      <a:endParaRPr lang="en-US" sz="950" dirty="0">
                        <a:latin typeface="Calibri" charset="0"/>
                        <a:ea typeface="Calibri" charset="0"/>
                        <a:cs typeface="Calibri" charset="0"/>
                      </a:endParaRPr>
                    </a:p>
                  </a:txBody>
                  <a:tcPr marL="91440" marR="91440" marT="45720" marB="45720">
                    <a:lnL w="12700" cap="flat" cmpd="sng" algn="ctr">
                      <a:solidFill>
                        <a:srgbClr val="E5D9F2"/>
                      </a:solidFill>
                      <a:prstDash val="solid"/>
                      <a:round/>
                      <a:headEnd type="none" w="med" len="med"/>
                      <a:tailEnd type="none" w="med" len="med"/>
                    </a:lnL>
                    <a:lnR w="12700" cap="flat" cmpd="sng" algn="ctr">
                      <a:solidFill>
                        <a:srgbClr val="E5D9F2"/>
                      </a:solidFill>
                      <a:prstDash val="solid"/>
                      <a:round/>
                      <a:headEnd type="none" w="med" len="med"/>
                      <a:tailEnd type="none" w="med" len="med"/>
                    </a:lnR>
                    <a:lnT w="12700" cap="flat" cmpd="sng" algn="ctr">
                      <a:solidFill>
                        <a:srgbClr val="E5D9F2"/>
                      </a:solidFill>
                      <a:prstDash val="solid"/>
                      <a:round/>
                      <a:headEnd type="none" w="med" len="med"/>
                      <a:tailEnd type="none" w="med" len="med"/>
                    </a:lnT>
                    <a:lnB w="12700" cap="flat" cmpd="sng" algn="ctr">
                      <a:solidFill>
                        <a:srgbClr val="E5D9F2"/>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320753"/>
                          </a:solidFill>
                          <a:latin typeface="Calibri" pitchFamily="34" charset="0"/>
                          <a:ea typeface="Calibri" pitchFamily="34" charset="-122"/>
                          <a:cs typeface="Calibri" pitchFamily="34" charset="-120"/>
                        </a:rPr>
                        <a:t>$1,500</a:t>
                      </a:r>
                      <a:endParaRPr lang="en-US" sz="950" dirty="0">
                        <a:latin typeface="Calibri" charset="0"/>
                        <a:ea typeface="Calibri" charset="0"/>
                        <a:cs typeface="Calibri" charset="0"/>
                      </a:endParaRPr>
                    </a:p>
                  </a:txBody>
                  <a:tcPr marL="91440" marR="91440" marT="45720" marB="45720">
                    <a:lnL w="12700" cap="flat" cmpd="sng" algn="ctr">
                      <a:solidFill>
                        <a:srgbClr val="E5D9F2"/>
                      </a:solidFill>
                      <a:prstDash val="solid"/>
                      <a:round/>
                      <a:headEnd type="none" w="med" len="med"/>
                      <a:tailEnd type="none" w="med" len="med"/>
                    </a:lnL>
                    <a:lnR w="12700" cap="flat" cmpd="sng" algn="ctr">
                      <a:solidFill>
                        <a:srgbClr val="E5D9F2"/>
                      </a:solidFill>
                      <a:prstDash val="solid"/>
                      <a:round/>
                      <a:headEnd type="none" w="med" len="med"/>
                      <a:tailEnd type="none" w="med" len="med"/>
                    </a:lnR>
                    <a:lnT w="12700" cap="flat" cmpd="sng" algn="ctr">
                      <a:solidFill>
                        <a:srgbClr val="E5D9F2"/>
                      </a:solidFill>
                      <a:prstDash val="solid"/>
                      <a:round/>
                      <a:headEnd type="none" w="med" len="med"/>
                      <a:tailEnd type="none" w="med" len="med"/>
                    </a:lnT>
                    <a:lnB w="12700" cap="flat" cmpd="sng" algn="ctr">
                      <a:solidFill>
                        <a:srgbClr val="E5D9F2"/>
                      </a:solidFill>
                      <a:prstDash val="solid"/>
                      <a:round/>
                      <a:headEnd type="none" w="med" len="med"/>
                      <a:tailEnd type="none" w="med" len="med"/>
                    </a:lnB>
                    <a:solidFill>
                      <a:srgbClr val="FFFFFF"/>
                    </a:solidFill>
                  </a:tcPr>
                </a:tc>
                <a:tc>
                  <a:txBody>
                    <a:bodyPr/>
                    <a:lstStyle/>
                    <a:p>
                      <a:pPr algn="l" indent="0" marL="0">
                        <a:buNone/>
                      </a:pPr>
                      <a:r>
                        <a:rPr lang="en-US" sz="950" dirty="0">
                          <a:solidFill>
                            <a:srgbClr val="111111"/>
                          </a:solidFill>
                          <a:latin typeface="Calibri" pitchFamily="34" charset="0"/>
                          <a:ea typeface="Calibri" pitchFamily="34" charset="-122"/>
                          <a:cs typeface="Calibri" pitchFamily="34" charset="-120"/>
                        </a:rPr>
                        <a:t>Due on signing</a:t>
                      </a:r>
                      <a:endParaRPr lang="en-US" sz="950" dirty="0">
                        <a:latin typeface="Calibri" charset="0"/>
                        <a:ea typeface="Calibri" charset="0"/>
                        <a:cs typeface="Calibri" charset="0"/>
                      </a:endParaRPr>
                    </a:p>
                  </a:txBody>
                  <a:tcPr marL="91440" marR="91440" marT="45720" marB="45720">
                    <a:lnL w="12700" cap="flat" cmpd="sng" algn="ctr">
                      <a:solidFill>
                        <a:srgbClr val="E5D9F2"/>
                      </a:solidFill>
                      <a:prstDash val="solid"/>
                      <a:round/>
                      <a:headEnd type="none" w="med" len="med"/>
                      <a:tailEnd type="none" w="med" len="med"/>
                    </a:lnL>
                    <a:lnR w="12700" cap="flat" cmpd="sng" algn="ctr">
                      <a:solidFill>
                        <a:srgbClr val="E5D9F2"/>
                      </a:solidFill>
                      <a:prstDash val="solid"/>
                      <a:round/>
                      <a:headEnd type="none" w="med" len="med"/>
                      <a:tailEnd type="none" w="med" len="med"/>
                    </a:lnR>
                    <a:lnT w="12700" cap="flat" cmpd="sng" algn="ctr">
                      <a:solidFill>
                        <a:srgbClr val="E5D9F2"/>
                      </a:solidFill>
                      <a:prstDash val="solid"/>
                      <a:round/>
                      <a:headEnd type="none" w="med" len="med"/>
                      <a:tailEnd type="none" w="med" len="med"/>
                    </a:lnT>
                    <a:lnB w="12700" cap="flat" cmpd="sng" algn="ctr">
                      <a:solidFill>
                        <a:srgbClr val="E5D9F2"/>
                      </a:solidFill>
                      <a:prstDash val="solid"/>
                      <a:round/>
                      <a:headEnd type="none" w="med" len="med"/>
                      <a:tailEnd type="none" w="med" len="med"/>
                    </a:lnB>
                    <a:solidFill>
                      <a:srgbClr val="FFFFFF"/>
                    </a:solidFill>
                  </a:tcPr>
                </a:tc>
              </a:tr>
              <a:tr h="0">
                <a:tc>
                  <a:txBody>
                    <a:bodyPr/>
                    <a:lstStyle/>
                    <a:p>
                      <a:pPr algn="l" indent="0" marL="0">
                        <a:buNone/>
                      </a:pPr>
                      <a:r>
                        <a:rPr lang="en-US" sz="950" dirty="0">
                          <a:solidFill>
                            <a:srgbClr val="111111"/>
                          </a:solidFill>
                          <a:latin typeface="Calibri" pitchFamily="34" charset="0"/>
                          <a:ea typeface="Calibri" pitchFamily="34" charset="-122"/>
                          <a:cs typeface="Calibri" pitchFamily="34" charset="-120"/>
                        </a:rPr>
                        <a:t>Monthly Retainer</a:t>
                      </a:r>
                      <a:endParaRPr lang="en-US" sz="950" dirty="0">
                        <a:latin typeface="Calibri" charset="0"/>
                        <a:ea typeface="Calibri" charset="0"/>
                        <a:cs typeface="Calibri" charset="0"/>
                      </a:endParaRPr>
                    </a:p>
                  </a:txBody>
                  <a:tcPr marL="91440" marR="91440" marT="45720" marB="45720">
                    <a:lnL w="12700" cap="flat" cmpd="sng" algn="ctr">
                      <a:solidFill>
                        <a:srgbClr val="E5D9F2"/>
                      </a:solidFill>
                      <a:prstDash val="solid"/>
                      <a:round/>
                      <a:headEnd type="none" w="med" len="med"/>
                      <a:tailEnd type="none" w="med" len="med"/>
                    </a:lnL>
                    <a:lnR w="12700" cap="flat" cmpd="sng" algn="ctr">
                      <a:solidFill>
                        <a:srgbClr val="E5D9F2"/>
                      </a:solidFill>
                      <a:prstDash val="solid"/>
                      <a:round/>
                      <a:headEnd type="none" w="med" len="med"/>
                      <a:tailEnd type="none" w="med" len="med"/>
                    </a:lnR>
                    <a:lnT w="12700" cap="flat" cmpd="sng" algn="ctr">
                      <a:solidFill>
                        <a:srgbClr val="E5D9F2"/>
                      </a:solidFill>
                      <a:prstDash val="solid"/>
                      <a:round/>
                      <a:headEnd type="none" w="med" len="med"/>
                      <a:tailEnd type="none" w="med" len="med"/>
                    </a:lnT>
                    <a:lnB w="12700" cap="flat" cmpd="sng" algn="ctr">
                      <a:solidFill>
                        <a:srgbClr val="E5D9F2"/>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320753"/>
                          </a:solidFill>
                          <a:latin typeface="Calibri" pitchFamily="34" charset="0"/>
                          <a:ea typeface="Calibri" pitchFamily="34" charset="-122"/>
                          <a:cs typeface="Calibri" pitchFamily="34" charset="-120"/>
                        </a:rPr>
                        <a:t>$5,000/month</a:t>
                      </a:r>
                      <a:endParaRPr lang="en-US" sz="950" dirty="0">
                        <a:latin typeface="Calibri" charset="0"/>
                        <a:ea typeface="Calibri" charset="0"/>
                        <a:cs typeface="Calibri" charset="0"/>
                      </a:endParaRPr>
                    </a:p>
                  </a:txBody>
                  <a:tcPr marL="91440" marR="91440" marT="45720" marB="45720">
                    <a:lnL w="12700" cap="flat" cmpd="sng" algn="ctr">
                      <a:solidFill>
                        <a:srgbClr val="E5D9F2"/>
                      </a:solidFill>
                      <a:prstDash val="solid"/>
                      <a:round/>
                      <a:headEnd type="none" w="med" len="med"/>
                      <a:tailEnd type="none" w="med" len="med"/>
                    </a:lnL>
                    <a:lnR w="12700" cap="flat" cmpd="sng" algn="ctr">
                      <a:solidFill>
                        <a:srgbClr val="E5D9F2"/>
                      </a:solidFill>
                      <a:prstDash val="solid"/>
                      <a:round/>
                      <a:headEnd type="none" w="med" len="med"/>
                      <a:tailEnd type="none" w="med" len="med"/>
                    </a:lnR>
                    <a:lnT w="12700" cap="flat" cmpd="sng" algn="ctr">
                      <a:solidFill>
                        <a:srgbClr val="E5D9F2"/>
                      </a:solidFill>
                      <a:prstDash val="solid"/>
                      <a:round/>
                      <a:headEnd type="none" w="med" len="med"/>
                      <a:tailEnd type="none" w="med" len="med"/>
                    </a:lnT>
                    <a:lnB w="12700" cap="flat" cmpd="sng" algn="ctr">
                      <a:solidFill>
                        <a:srgbClr val="E5D9F2"/>
                      </a:solidFill>
                      <a:prstDash val="solid"/>
                      <a:round/>
                      <a:headEnd type="none" w="med" len="med"/>
                      <a:tailEnd type="none" w="med" len="med"/>
                    </a:lnB>
                    <a:solidFill>
                      <a:srgbClr val="FFFFFF"/>
                    </a:solidFill>
                  </a:tcPr>
                </a:tc>
                <a:tc>
                  <a:txBody>
                    <a:bodyPr/>
                    <a:lstStyle/>
                    <a:p>
                      <a:pPr algn="l" indent="0" marL="0">
                        <a:buNone/>
                      </a:pPr>
                      <a:r>
                        <a:rPr lang="en-US" sz="950" dirty="0">
                          <a:solidFill>
                            <a:srgbClr val="111111"/>
                          </a:solidFill>
                          <a:latin typeface="Calibri" pitchFamily="34" charset="0"/>
                          <a:ea typeface="Calibri" pitchFamily="34" charset="-122"/>
                          <a:cs typeface="Calibri" pitchFamily="34" charset="-120"/>
                        </a:rPr>
                        <a:t>Due 1st of each month</a:t>
                      </a:r>
                      <a:endParaRPr lang="en-US" sz="950" dirty="0">
                        <a:latin typeface="Calibri" charset="0"/>
                        <a:ea typeface="Calibri" charset="0"/>
                        <a:cs typeface="Calibri" charset="0"/>
                      </a:endParaRPr>
                    </a:p>
                  </a:txBody>
                  <a:tcPr marL="91440" marR="91440" marT="45720" marB="45720">
                    <a:lnL w="12700" cap="flat" cmpd="sng" algn="ctr">
                      <a:solidFill>
                        <a:srgbClr val="E5D9F2"/>
                      </a:solidFill>
                      <a:prstDash val="solid"/>
                      <a:round/>
                      <a:headEnd type="none" w="med" len="med"/>
                      <a:tailEnd type="none" w="med" len="med"/>
                    </a:lnL>
                    <a:lnR w="12700" cap="flat" cmpd="sng" algn="ctr">
                      <a:solidFill>
                        <a:srgbClr val="E5D9F2"/>
                      </a:solidFill>
                      <a:prstDash val="solid"/>
                      <a:round/>
                      <a:headEnd type="none" w="med" len="med"/>
                      <a:tailEnd type="none" w="med" len="med"/>
                    </a:lnR>
                    <a:lnT w="12700" cap="flat" cmpd="sng" algn="ctr">
                      <a:solidFill>
                        <a:srgbClr val="E5D9F2"/>
                      </a:solidFill>
                      <a:prstDash val="solid"/>
                      <a:round/>
                      <a:headEnd type="none" w="med" len="med"/>
                      <a:tailEnd type="none" w="med" len="med"/>
                    </a:lnT>
                    <a:lnB w="12700" cap="flat" cmpd="sng" algn="ctr">
                      <a:solidFill>
                        <a:srgbClr val="E5D9F2"/>
                      </a:solidFill>
                      <a:prstDash val="solid"/>
                      <a:round/>
                      <a:headEnd type="none" w="med" len="med"/>
                      <a:tailEnd type="none" w="med" len="med"/>
                    </a:lnB>
                    <a:solidFill>
                      <a:srgbClr val="FFFFFF"/>
                    </a:solidFill>
                  </a:tcPr>
                </a:tc>
              </a:tr>
              <a:tr h="0">
                <a:tc>
                  <a:txBody>
                    <a:bodyPr/>
                    <a:lstStyle/>
                    <a:p>
                      <a:pPr algn="l" indent="0" marL="0">
                        <a:buNone/>
                      </a:pPr>
                      <a:r>
                        <a:rPr lang="en-US" sz="950" dirty="0">
                          <a:solidFill>
                            <a:srgbClr val="111111"/>
                          </a:solidFill>
                          <a:latin typeface="Calibri" pitchFamily="34" charset="0"/>
                          <a:ea typeface="Calibri" pitchFamily="34" charset="-122"/>
                          <a:cs typeface="Calibri" pitchFamily="34" charset="-120"/>
                        </a:rPr>
                        <a:t>Ad Spend (client-managed)</a:t>
                      </a:r>
                      <a:endParaRPr lang="en-US" sz="950" dirty="0">
                        <a:latin typeface="Calibri" charset="0"/>
                        <a:ea typeface="Calibri" charset="0"/>
                        <a:cs typeface="Calibri" charset="0"/>
                      </a:endParaRPr>
                    </a:p>
                  </a:txBody>
                  <a:tcPr marL="91440" marR="91440" marT="45720" marB="45720">
                    <a:lnL w="12700" cap="flat" cmpd="sng" algn="ctr">
                      <a:solidFill>
                        <a:srgbClr val="E5D9F2"/>
                      </a:solidFill>
                      <a:prstDash val="solid"/>
                      <a:round/>
                      <a:headEnd type="none" w="med" len="med"/>
                      <a:tailEnd type="none" w="med" len="med"/>
                    </a:lnL>
                    <a:lnR w="12700" cap="flat" cmpd="sng" algn="ctr">
                      <a:solidFill>
                        <a:srgbClr val="E5D9F2"/>
                      </a:solidFill>
                      <a:prstDash val="solid"/>
                      <a:round/>
                      <a:headEnd type="none" w="med" len="med"/>
                      <a:tailEnd type="none" w="med" len="med"/>
                    </a:lnR>
                    <a:lnT w="12700" cap="flat" cmpd="sng" algn="ctr">
                      <a:solidFill>
                        <a:srgbClr val="E5D9F2"/>
                      </a:solidFill>
                      <a:prstDash val="solid"/>
                      <a:round/>
                      <a:headEnd type="none" w="med" len="med"/>
                      <a:tailEnd type="none" w="med" len="med"/>
                    </a:lnT>
                    <a:lnB w="12700" cap="flat" cmpd="sng" algn="ctr">
                      <a:solidFill>
                        <a:srgbClr val="E5D9F2"/>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320753"/>
                          </a:solidFill>
                          <a:latin typeface="Calibri" pitchFamily="34" charset="0"/>
                          <a:ea typeface="Calibri" pitchFamily="34" charset="-122"/>
                          <a:cs typeface="Calibri" pitchFamily="34" charset="-120"/>
                        </a:rPr>
                        <a:t>$3,000–$10,000/month</a:t>
                      </a:r>
                      <a:endParaRPr lang="en-US" sz="950" dirty="0">
                        <a:latin typeface="Calibri" charset="0"/>
                        <a:ea typeface="Calibri" charset="0"/>
                        <a:cs typeface="Calibri" charset="0"/>
                      </a:endParaRPr>
                    </a:p>
                  </a:txBody>
                  <a:tcPr marL="91440" marR="91440" marT="45720" marB="45720">
                    <a:lnL w="12700" cap="flat" cmpd="sng" algn="ctr">
                      <a:solidFill>
                        <a:srgbClr val="E5D9F2"/>
                      </a:solidFill>
                      <a:prstDash val="solid"/>
                      <a:round/>
                      <a:headEnd type="none" w="med" len="med"/>
                      <a:tailEnd type="none" w="med" len="med"/>
                    </a:lnL>
                    <a:lnR w="12700" cap="flat" cmpd="sng" algn="ctr">
                      <a:solidFill>
                        <a:srgbClr val="E5D9F2"/>
                      </a:solidFill>
                      <a:prstDash val="solid"/>
                      <a:round/>
                      <a:headEnd type="none" w="med" len="med"/>
                      <a:tailEnd type="none" w="med" len="med"/>
                    </a:lnR>
                    <a:lnT w="12700" cap="flat" cmpd="sng" algn="ctr">
                      <a:solidFill>
                        <a:srgbClr val="E5D9F2"/>
                      </a:solidFill>
                      <a:prstDash val="solid"/>
                      <a:round/>
                      <a:headEnd type="none" w="med" len="med"/>
                      <a:tailEnd type="none" w="med" len="med"/>
                    </a:lnT>
                    <a:lnB w="12700" cap="flat" cmpd="sng" algn="ctr">
                      <a:solidFill>
                        <a:srgbClr val="E5D9F2"/>
                      </a:solidFill>
                      <a:prstDash val="solid"/>
                      <a:round/>
                      <a:headEnd type="none" w="med" len="med"/>
                      <a:tailEnd type="none" w="med" len="med"/>
                    </a:lnB>
                    <a:solidFill>
                      <a:srgbClr val="FFFFFF"/>
                    </a:solidFill>
                  </a:tcPr>
                </a:tc>
                <a:tc>
                  <a:txBody>
                    <a:bodyPr/>
                    <a:lstStyle/>
                    <a:p>
                      <a:pPr algn="l" indent="0" marL="0">
                        <a:buNone/>
                      </a:pPr>
                      <a:r>
                        <a:rPr lang="en-US" sz="950" dirty="0">
                          <a:solidFill>
                            <a:srgbClr val="111111"/>
                          </a:solidFill>
                          <a:latin typeface="Calibri" pitchFamily="34" charset="0"/>
                          <a:ea typeface="Calibri" pitchFamily="34" charset="-122"/>
                          <a:cs typeface="Calibri" pitchFamily="34" charset="-120"/>
                        </a:rPr>
                        <a:t>Paid direct to Meta by client</a:t>
                      </a:r>
                      <a:endParaRPr lang="en-US" sz="950" dirty="0">
                        <a:latin typeface="Calibri" charset="0"/>
                        <a:ea typeface="Calibri" charset="0"/>
                        <a:cs typeface="Calibri" charset="0"/>
                      </a:endParaRPr>
                    </a:p>
                  </a:txBody>
                  <a:tcPr marL="91440" marR="91440" marT="45720" marB="45720">
                    <a:lnL w="12700" cap="flat" cmpd="sng" algn="ctr">
                      <a:solidFill>
                        <a:srgbClr val="E5D9F2"/>
                      </a:solidFill>
                      <a:prstDash val="solid"/>
                      <a:round/>
                      <a:headEnd type="none" w="med" len="med"/>
                      <a:tailEnd type="none" w="med" len="med"/>
                    </a:lnL>
                    <a:lnR w="12700" cap="flat" cmpd="sng" algn="ctr">
                      <a:solidFill>
                        <a:srgbClr val="E5D9F2"/>
                      </a:solidFill>
                      <a:prstDash val="solid"/>
                      <a:round/>
                      <a:headEnd type="none" w="med" len="med"/>
                      <a:tailEnd type="none" w="med" len="med"/>
                    </a:lnR>
                    <a:lnT w="12700" cap="flat" cmpd="sng" algn="ctr">
                      <a:solidFill>
                        <a:srgbClr val="E5D9F2"/>
                      </a:solidFill>
                      <a:prstDash val="solid"/>
                      <a:round/>
                      <a:headEnd type="none" w="med" len="med"/>
                      <a:tailEnd type="none" w="med" len="med"/>
                    </a:lnT>
                    <a:lnB w="12700" cap="flat" cmpd="sng" algn="ctr">
                      <a:solidFill>
                        <a:srgbClr val="E5D9F2"/>
                      </a:solidFill>
                      <a:prstDash val="solid"/>
                      <a:round/>
                      <a:headEnd type="none" w="med" len="med"/>
                      <a:tailEnd type="none" w="med" len="med"/>
                    </a:lnB>
                    <a:solidFill>
                      <a:srgbClr val="FFFFFF"/>
                    </a:solidFill>
                  </a:tcPr>
                </a:tc>
              </a:tr>
              <a:tr h="0">
                <a:tc>
                  <a:txBody>
                    <a:bodyPr/>
                    <a:lstStyle/>
                    <a:p>
                      <a:pPr algn="l" indent="0" marL="0">
                        <a:buNone/>
                      </a:pPr>
                      <a:r>
                        <a:rPr lang="en-US" sz="950" dirty="0">
                          <a:solidFill>
                            <a:srgbClr val="111111"/>
                          </a:solidFill>
                          <a:latin typeface="Calibri" pitchFamily="34" charset="0"/>
                          <a:ea typeface="Calibri" pitchFamily="34" charset="-122"/>
                          <a:cs typeface="Calibri" pitchFamily="34" charset="-120"/>
                        </a:rPr>
                        <a:t>Performance Bonus (optional)</a:t>
                      </a:r>
                      <a:endParaRPr lang="en-US" sz="950" dirty="0">
                        <a:latin typeface="Calibri" charset="0"/>
                        <a:ea typeface="Calibri" charset="0"/>
                        <a:cs typeface="Calibri" charset="0"/>
                      </a:endParaRPr>
                    </a:p>
                  </a:txBody>
                  <a:tcPr marL="91440" marR="91440" marT="45720" marB="45720">
                    <a:lnL w="12700" cap="flat" cmpd="sng" algn="ctr">
                      <a:solidFill>
                        <a:srgbClr val="E5D9F2"/>
                      </a:solidFill>
                      <a:prstDash val="solid"/>
                      <a:round/>
                      <a:headEnd type="none" w="med" len="med"/>
                      <a:tailEnd type="none" w="med" len="med"/>
                    </a:lnL>
                    <a:lnR w="12700" cap="flat" cmpd="sng" algn="ctr">
                      <a:solidFill>
                        <a:srgbClr val="E5D9F2"/>
                      </a:solidFill>
                      <a:prstDash val="solid"/>
                      <a:round/>
                      <a:headEnd type="none" w="med" len="med"/>
                      <a:tailEnd type="none" w="med" len="med"/>
                    </a:lnR>
                    <a:lnT w="12700" cap="flat" cmpd="sng" algn="ctr">
                      <a:solidFill>
                        <a:srgbClr val="E5D9F2"/>
                      </a:solidFill>
                      <a:prstDash val="solid"/>
                      <a:round/>
                      <a:headEnd type="none" w="med" len="med"/>
                      <a:tailEnd type="none" w="med" len="med"/>
                    </a:lnT>
                    <a:lnB w="12700" cap="flat" cmpd="sng" algn="ctr">
                      <a:solidFill>
                        <a:srgbClr val="E5D9F2"/>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320753"/>
                          </a:solidFill>
                          <a:latin typeface="Calibri" pitchFamily="34" charset="0"/>
                          <a:ea typeface="Calibri" pitchFamily="34" charset="-122"/>
                          <a:cs typeface="Calibri" pitchFamily="34" charset="-120"/>
                        </a:rPr>
                        <a:t>10% of revenue above 3× ROAS target</a:t>
                      </a:r>
                      <a:endParaRPr lang="en-US" sz="950" dirty="0">
                        <a:latin typeface="Calibri" charset="0"/>
                        <a:ea typeface="Calibri" charset="0"/>
                        <a:cs typeface="Calibri" charset="0"/>
                      </a:endParaRPr>
                    </a:p>
                  </a:txBody>
                  <a:tcPr marL="91440" marR="91440" marT="45720" marB="45720">
                    <a:lnL w="12700" cap="flat" cmpd="sng" algn="ctr">
                      <a:solidFill>
                        <a:srgbClr val="E5D9F2"/>
                      </a:solidFill>
                      <a:prstDash val="solid"/>
                      <a:round/>
                      <a:headEnd type="none" w="med" len="med"/>
                      <a:tailEnd type="none" w="med" len="med"/>
                    </a:lnL>
                    <a:lnR w="12700" cap="flat" cmpd="sng" algn="ctr">
                      <a:solidFill>
                        <a:srgbClr val="E5D9F2"/>
                      </a:solidFill>
                      <a:prstDash val="solid"/>
                      <a:round/>
                      <a:headEnd type="none" w="med" len="med"/>
                      <a:tailEnd type="none" w="med" len="med"/>
                    </a:lnR>
                    <a:lnT w="12700" cap="flat" cmpd="sng" algn="ctr">
                      <a:solidFill>
                        <a:srgbClr val="E5D9F2"/>
                      </a:solidFill>
                      <a:prstDash val="solid"/>
                      <a:round/>
                      <a:headEnd type="none" w="med" len="med"/>
                      <a:tailEnd type="none" w="med" len="med"/>
                    </a:lnT>
                    <a:lnB w="12700" cap="flat" cmpd="sng" algn="ctr">
                      <a:solidFill>
                        <a:srgbClr val="E5D9F2"/>
                      </a:solidFill>
                      <a:prstDash val="solid"/>
                      <a:round/>
                      <a:headEnd type="none" w="med" len="med"/>
                      <a:tailEnd type="none" w="med" len="med"/>
                    </a:lnB>
                    <a:solidFill>
                      <a:srgbClr val="FFFFFF"/>
                    </a:solidFill>
                  </a:tcPr>
                </a:tc>
                <a:tc>
                  <a:txBody>
                    <a:bodyPr/>
                    <a:lstStyle/>
                    <a:p>
                      <a:pPr algn="l" indent="0" marL="0">
                        <a:buNone/>
                      </a:pPr>
                      <a:r>
                        <a:rPr lang="en-US" sz="950" dirty="0">
                          <a:solidFill>
                            <a:srgbClr val="111111"/>
                          </a:solidFill>
                          <a:latin typeface="Calibri" pitchFamily="34" charset="0"/>
                          <a:ea typeface="Calibri" pitchFamily="34" charset="-122"/>
                          <a:cs typeface="Calibri" pitchFamily="34" charset="-120"/>
                        </a:rPr>
                        <a:t>Invoiced monthly in arrears</a:t>
                      </a:r>
                      <a:endParaRPr lang="en-US" sz="950" dirty="0">
                        <a:latin typeface="Calibri" charset="0"/>
                        <a:ea typeface="Calibri" charset="0"/>
                        <a:cs typeface="Calibri" charset="0"/>
                      </a:endParaRPr>
                    </a:p>
                  </a:txBody>
                  <a:tcPr marL="91440" marR="91440" marT="45720" marB="45720">
                    <a:lnL w="12700" cap="flat" cmpd="sng" algn="ctr">
                      <a:solidFill>
                        <a:srgbClr val="E5D9F2"/>
                      </a:solidFill>
                      <a:prstDash val="solid"/>
                      <a:round/>
                      <a:headEnd type="none" w="med" len="med"/>
                      <a:tailEnd type="none" w="med" len="med"/>
                    </a:lnL>
                    <a:lnR w="12700" cap="flat" cmpd="sng" algn="ctr">
                      <a:solidFill>
                        <a:srgbClr val="E5D9F2"/>
                      </a:solidFill>
                      <a:prstDash val="solid"/>
                      <a:round/>
                      <a:headEnd type="none" w="med" len="med"/>
                      <a:tailEnd type="none" w="med" len="med"/>
                    </a:lnR>
                    <a:lnT w="12700" cap="flat" cmpd="sng" algn="ctr">
                      <a:solidFill>
                        <a:srgbClr val="E5D9F2"/>
                      </a:solidFill>
                      <a:prstDash val="solid"/>
                      <a:round/>
                      <a:headEnd type="none" w="med" len="med"/>
                      <a:tailEnd type="none" w="med" len="med"/>
                    </a:lnT>
                    <a:lnB w="12700" cap="flat" cmpd="sng" algn="ctr">
                      <a:solidFill>
                        <a:srgbClr val="E5D9F2"/>
                      </a:solidFill>
                      <a:prstDash val="solid"/>
                      <a:round/>
                      <a:headEnd type="none" w="med" len="med"/>
                      <a:tailEnd type="none" w="med" len="med"/>
                    </a:lnB>
                    <a:solidFill>
                      <a:srgbClr val="FFFFFF"/>
                    </a:solidFill>
                  </a:tcPr>
                </a:tc>
              </a:tr>
            </a:tbl>
          </a:graphicData>
        </a:graphic>
      </p:graphicFrame>
      <p:sp>
        <p:nvSpPr>
          <p:cNvPr id="7" name="Shape 3"/>
          <p:cNvSpPr/>
          <p:nvPr/>
        </p:nvSpPr>
        <p:spPr>
          <a:xfrm>
            <a:off x="0" y="4846320"/>
            <a:ext cx="9144000" cy="297180"/>
          </a:xfrm>
          <a:prstGeom prst="rect">
            <a:avLst/>
          </a:prstGeom>
          <a:solidFill>
            <a:srgbClr val="FFDE00"/>
          </a:solidFill>
          <a:ln w="12700">
            <a:solidFill>
              <a:srgbClr val="FFDE00"/>
            </a:solidFill>
            <a:prstDash val="solid"/>
          </a:ln>
        </p:spPr>
        <p:txBody>
          <a:bodyPr/>
          <a:p/>
        </p:txBody>
      </p:sp>
      <p:sp>
        <p:nvSpPr>
          <p:cNvPr id="8" name="Text 4"/>
          <p:cNvSpPr/>
          <p:nvPr/>
        </p:nvSpPr>
        <p:spPr>
          <a:xfrm>
            <a:off x="365760" y="4846320"/>
            <a:ext cx="8229600" cy="297180"/>
          </a:xfrm>
          <a:prstGeom prst="rect">
            <a:avLst/>
          </a:prstGeom>
          <a:noFill/>
          <a:ln/>
        </p:spPr>
        <p:txBody>
          <a:bodyPr wrap="square" lIns="0" tIns="0" rIns="0" bIns="0" rtlCol="0" anchor="ctr"/>
          <a:lstStyle/>
          <a:p>
            <a:pPr indent="0" marL="0">
              <a:buNone/>
            </a:pPr>
            <a:r>
              <a:rPr lang="en-US" sz="900" dirty="0">
                <a:solidFill>
                  <a:srgbClr val="320753"/>
                </a:solidFill>
                <a:latin typeface="Calibri" pitchFamily="34" charset="0"/>
                <a:ea typeface="Calibri" pitchFamily="34" charset="-122"/>
                <a:cs typeface="Calibri" pitchFamily="34" charset="-120"/>
              </a:rPr>
              <a:t>BM-2026-0614  |  bombay-media.com</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320753"/>
          </a:solidFill>
          <a:ln w="12700">
            <a:solidFill>
              <a:srgbClr val="320753"/>
            </a:solidFill>
            <a:prstDash val="solid"/>
          </a:ln>
        </p:spPr>
        <p:txBody>
          <a:bodyPr/>
          <a:p/>
        </p:txBody>
      </p:sp>
      <p:sp>
        <p:nvSpPr>
          <p:cNvPr id="3" name="Text 1"/>
          <p:cNvSpPr/>
          <p:nvPr/>
        </p:nvSpPr>
        <p:spPr>
          <a:xfrm>
            <a:off x="365760" y="0"/>
            <a:ext cx="8229600" cy="640080"/>
          </a:xfrm>
          <a:prstGeom prst="rect">
            <a:avLst/>
          </a:prstGeom>
          <a:noFill/>
          <a:ln/>
        </p:spPr>
        <p:txBody>
          <a:bodyPr wrap="square" lIns="0" tIns="0" rIns="0" bIns="0" rtlCol="0" anchor="ctr"/>
          <a:lstStyle/>
          <a:p>
            <a:pPr indent="0" marL="0">
              <a:buNone/>
            </a:pPr>
            <a:r>
              <a:rPr lang="en-US" sz="1200" b="1" spc="200" kern="0" dirty="0">
                <a:solidFill>
                  <a:srgbClr val="FFDE00"/>
                </a:solidFill>
                <a:latin typeface="Arial Black" pitchFamily="34" charset="0"/>
                <a:ea typeface="Arial Black" pitchFamily="34" charset="-122"/>
                <a:cs typeface="Arial Black" pitchFamily="34" charset="-120"/>
              </a:rPr>
              <a:t>3. TERMS, GUARANTEE &amp; SIGNATURES</a:t>
            </a:r>
            <a:endParaRPr lang="en-US" sz="1200" dirty="0"/>
          </a:p>
        </p:txBody>
      </p:sp>
      <p:sp>
        <p:nvSpPr>
          <p:cNvPr id="4" name="Shape 2"/>
          <p:cNvSpPr/>
          <p:nvPr/>
        </p:nvSpPr>
        <p:spPr>
          <a:xfrm>
            <a:off x="365760" y="777240"/>
            <a:ext cx="8412480" cy="1234440"/>
          </a:xfrm>
          <a:prstGeom prst="rect">
            <a:avLst/>
          </a:prstGeom>
          <a:solidFill>
            <a:srgbClr val="FFDE00"/>
          </a:solidFill>
          <a:ln w="12700">
            <a:solidFill>
              <a:srgbClr val="FFDE00"/>
            </a:solidFill>
            <a:prstDash val="solid"/>
          </a:ln>
        </p:spPr>
        <p:txBody>
          <a:bodyPr/>
          <a:p/>
        </p:txBody>
      </p:sp>
      <p:sp>
        <p:nvSpPr>
          <p:cNvPr id="5" name="Text 3"/>
          <p:cNvSpPr/>
          <p:nvPr/>
        </p:nvSpPr>
        <p:spPr>
          <a:xfrm>
            <a:off x="548640" y="822960"/>
            <a:ext cx="8046720" cy="347472"/>
          </a:xfrm>
          <a:prstGeom prst="rect">
            <a:avLst/>
          </a:prstGeom>
          <a:noFill/>
          <a:ln/>
        </p:spPr>
        <p:txBody>
          <a:bodyPr wrap="square" lIns="0" tIns="0" rIns="0" bIns="0" rtlCol="0" anchor="ctr"/>
          <a:lstStyle/>
          <a:p>
            <a:pPr indent="0" marL="0">
              <a:buNone/>
            </a:pPr>
            <a:r>
              <a:rPr lang="en-US" sz="1300" b="1" dirty="0">
                <a:solidFill>
                  <a:srgbClr val="320753"/>
                </a:solidFill>
                <a:latin typeface="Arial Black" pitchFamily="34" charset="0"/>
                <a:ea typeface="Arial Black" pitchFamily="34" charset="-122"/>
                <a:cs typeface="Arial Black" pitchFamily="34" charset="-120"/>
              </a:rPr>
              <a:t>3× ROAS PERFORMANCE GUARANTEE</a:t>
            </a:r>
            <a:endParaRPr lang="en-US" sz="1300" dirty="0"/>
          </a:p>
        </p:txBody>
      </p:sp>
      <p:sp>
        <p:nvSpPr>
          <p:cNvPr id="6" name="Text 4"/>
          <p:cNvSpPr/>
          <p:nvPr/>
        </p:nvSpPr>
        <p:spPr>
          <a:xfrm>
            <a:off x="548640" y="1188720"/>
            <a:ext cx="8046720" cy="685800"/>
          </a:xfrm>
          <a:prstGeom prst="rect">
            <a:avLst/>
          </a:prstGeom>
          <a:noFill/>
          <a:ln/>
        </p:spPr>
        <p:txBody>
          <a:bodyPr wrap="square" lIns="0" tIns="0" rIns="0" bIns="0" rtlCol="0" anchor="ctr"/>
          <a:lstStyle/>
          <a:p>
            <a:pPr indent="0" marL="0">
              <a:buNone/>
            </a:pPr>
            <a:r>
              <a:rPr lang="en-US" sz="1000" dirty="0">
                <a:solidFill>
                  <a:srgbClr val="320753"/>
                </a:solidFill>
                <a:latin typeface="Calibri" pitchFamily="34" charset="0"/>
                <a:ea typeface="Calibri" pitchFamily="34" charset="-122"/>
                <a:cs typeface="Calibri" pitchFamily="34" charset="-120"/>
              </a:rPr>
              <a:t>If Bombay Media does not deliver a minimum 3× return on ad spend within 90 days of campaign launch, we will continue to manage your campaigns at no additional cost until the guarantee is met. Ad spend remains the client's responsibility throughout.</a:t>
            </a:r>
            <a:endParaRPr lang="en-US" sz="1000" dirty="0"/>
          </a:p>
        </p:txBody>
      </p:sp>
      <p:sp>
        <p:nvSpPr>
          <p:cNvPr id="7" name="Shape 5"/>
          <p:cNvSpPr/>
          <p:nvPr/>
        </p:nvSpPr>
        <p:spPr>
          <a:xfrm>
            <a:off x="365760" y="2148840"/>
            <a:ext cx="91440" cy="411480"/>
          </a:xfrm>
          <a:prstGeom prst="rect">
            <a:avLst/>
          </a:prstGeom>
          <a:solidFill>
            <a:srgbClr val="320753"/>
          </a:solidFill>
          <a:ln w="12700">
            <a:solidFill>
              <a:srgbClr val="320753"/>
            </a:solidFill>
            <a:prstDash val="solid"/>
          </a:ln>
        </p:spPr>
        <p:txBody>
          <a:bodyPr/>
          <a:p/>
        </p:txBody>
      </p:sp>
      <p:sp>
        <p:nvSpPr>
          <p:cNvPr id="8" name="Text 6"/>
          <p:cNvSpPr/>
          <p:nvPr/>
        </p:nvSpPr>
        <p:spPr>
          <a:xfrm>
            <a:off x="566928" y="2148840"/>
            <a:ext cx="2194560" cy="411480"/>
          </a:xfrm>
          <a:prstGeom prst="rect">
            <a:avLst/>
          </a:prstGeom>
          <a:noFill/>
          <a:ln/>
        </p:spPr>
        <p:txBody>
          <a:bodyPr wrap="square" lIns="0" tIns="0" rIns="0" bIns="0" rtlCol="0" anchor="ctr"/>
          <a:lstStyle/>
          <a:p>
            <a:pPr indent="0" marL="0">
              <a:buNone/>
            </a:pPr>
            <a:r>
              <a:rPr lang="en-US" sz="1000" b="1" dirty="0">
                <a:solidFill>
                  <a:srgbClr val="320753"/>
                </a:solidFill>
                <a:latin typeface="Arial Black" pitchFamily="34" charset="0"/>
                <a:ea typeface="Arial Black" pitchFamily="34" charset="-122"/>
                <a:cs typeface="Arial Black" pitchFamily="34" charset="-120"/>
              </a:rPr>
              <a:t>Term &amp; Termination</a:t>
            </a:r>
            <a:endParaRPr lang="en-US" sz="1000" dirty="0"/>
          </a:p>
        </p:txBody>
      </p:sp>
      <p:sp>
        <p:nvSpPr>
          <p:cNvPr id="9" name="Text 7"/>
          <p:cNvSpPr/>
          <p:nvPr/>
        </p:nvSpPr>
        <p:spPr>
          <a:xfrm>
            <a:off x="2834640" y="2148840"/>
            <a:ext cx="5943600" cy="411480"/>
          </a:xfrm>
          <a:prstGeom prst="rect">
            <a:avLst/>
          </a:prstGeom>
          <a:noFill/>
          <a:ln/>
        </p:spPr>
        <p:txBody>
          <a:bodyPr wrap="square" lIns="0" tIns="0" rIns="0" bIns="0" rtlCol="0" anchor="ctr"/>
          <a:lstStyle/>
          <a:p>
            <a:pPr indent="0" marL="0">
              <a:buNone/>
            </a:pPr>
            <a:r>
              <a:rPr lang="en-US" sz="950" dirty="0">
                <a:solidFill>
                  <a:srgbClr val="111111"/>
                </a:solidFill>
                <a:latin typeface="Calibri" pitchFamily="34" charset="0"/>
                <a:ea typeface="Calibri" pitchFamily="34" charset="-122"/>
                <a:cs typeface="Calibri" pitchFamily="34" charset="-120"/>
              </a:rPr>
              <a:t>Initial term: 90 days. Either party may terminate with 30 days written notice after the initial term. No refunds on setup fees.</a:t>
            </a:r>
            <a:endParaRPr lang="en-US" sz="950" dirty="0"/>
          </a:p>
        </p:txBody>
      </p:sp>
      <p:sp>
        <p:nvSpPr>
          <p:cNvPr id="10" name="Shape 8"/>
          <p:cNvSpPr/>
          <p:nvPr/>
        </p:nvSpPr>
        <p:spPr>
          <a:xfrm>
            <a:off x="365760" y="2651760"/>
            <a:ext cx="91440" cy="411480"/>
          </a:xfrm>
          <a:prstGeom prst="rect">
            <a:avLst/>
          </a:prstGeom>
          <a:solidFill>
            <a:srgbClr val="320753"/>
          </a:solidFill>
          <a:ln w="12700">
            <a:solidFill>
              <a:srgbClr val="320753"/>
            </a:solidFill>
            <a:prstDash val="solid"/>
          </a:ln>
        </p:spPr>
        <p:txBody>
          <a:bodyPr/>
          <a:p/>
        </p:txBody>
      </p:sp>
      <p:sp>
        <p:nvSpPr>
          <p:cNvPr id="11" name="Text 9"/>
          <p:cNvSpPr/>
          <p:nvPr/>
        </p:nvSpPr>
        <p:spPr>
          <a:xfrm>
            <a:off x="566928" y="2651760"/>
            <a:ext cx="2194560" cy="411480"/>
          </a:xfrm>
          <a:prstGeom prst="rect">
            <a:avLst/>
          </a:prstGeom>
          <a:noFill/>
          <a:ln/>
        </p:spPr>
        <p:txBody>
          <a:bodyPr wrap="square" lIns="0" tIns="0" rIns="0" bIns="0" rtlCol="0" anchor="ctr"/>
          <a:lstStyle/>
          <a:p>
            <a:pPr indent="0" marL="0">
              <a:buNone/>
            </a:pPr>
            <a:r>
              <a:rPr lang="en-US" sz="1000" b="1" dirty="0">
                <a:solidFill>
                  <a:srgbClr val="320753"/>
                </a:solidFill>
                <a:latin typeface="Arial Black" pitchFamily="34" charset="0"/>
                <a:ea typeface="Arial Black" pitchFamily="34" charset="-122"/>
                <a:cs typeface="Arial Black" pitchFamily="34" charset="-120"/>
              </a:rPr>
              <a:t>Intellectual Property</a:t>
            </a:r>
            <a:endParaRPr lang="en-US" sz="1000" dirty="0"/>
          </a:p>
        </p:txBody>
      </p:sp>
      <p:sp>
        <p:nvSpPr>
          <p:cNvPr id="12" name="Text 10"/>
          <p:cNvSpPr/>
          <p:nvPr/>
        </p:nvSpPr>
        <p:spPr>
          <a:xfrm>
            <a:off x="2834640" y="2651760"/>
            <a:ext cx="5943600" cy="411480"/>
          </a:xfrm>
          <a:prstGeom prst="rect">
            <a:avLst/>
          </a:prstGeom>
          <a:noFill/>
          <a:ln/>
        </p:spPr>
        <p:txBody>
          <a:bodyPr wrap="square" lIns="0" tIns="0" rIns="0" bIns="0" rtlCol="0" anchor="ctr"/>
          <a:lstStyle/>
          <a:p>
            <a:pPr indent="0" marL="0">
              <a:buNone/>
            </a:pPr>
            <a:r>
              <a:rPr lang="en-US" sz="950" dirty="0">
                <a:solidFill>
                  <a:srgbClr val="111111"/>
                </a:solidFill>
                <a:latin typeface="Calibri" pitchFamily="34" charset="0"/>
                <a:ea typeface="Calibri" pitchFamily="34" charset="-122"/>
                <a:cs typeface="Calibri" pitchFamily="34" charset="-120"/>
              </a:rPr>
              <a:t>All campaign assets created by Bombay Media remain the property of the client upon full payment. Agency retains the right to use anonymised metrics as case studies.</a:t>
            </a:r>
            <a:endParaRPr lang="en-US" sz="950" dirty="0"/>
          </a:p>
        </p:txBody>
      </p:sp>
      <p:sp>
        <p:nvSpPr>
          <p:cNvPr id="13" name="Shape 11"/>
          <p:cNvSpPr/>
          <p:nvPr/>
        </p:nvSpPr>
        <p:spPr>
          <a:xfrm>
            <a:off x="365760" y="3154680"/>
            <a:ext cx="91440" cy="411480"/>
          </a:xfrm>
          <a:prstGeom prst="rect">
            <a:avLst/>
          </a:prstGeom>
          <a:solidFill>
            <a:srgbClr val="320753"/>
          </a:solidFill>
          <a:ln w="12700">
            <a:solidFill>
              <a:srgbClr val="320753"/>
            </a:solidFill>
            <a:prstDash val="solid"/>
          </a:ln>
        </p:spPr>
        <p:txBody>
          <a:bodyPr/>
          <a:p/>
        </p:txBody>
      </p:sp>
      <p:sp>
        <p:nvSpPr>
          <p:cNvPr id="14" name="Text 12"/>
          <p:cNvSpPr/>
          <p:nvPr/>
        </p:nvSpPr>
        <p:spPr>
          <a:xfrm>
            <a:off x="566928" y="3154680"/>
            <a:ext cx="2194560" cy="411480"/>
          </a:xfrm>
          <a:prstGeom prst="rect">
            <a:avLst/>
          </a:prstGeom>
          <a:noFill/>
          <a:ln/>
        </p:spPr>
        <p:txBody>
          <a:bodyPr wrap="square" lIns="0" tIns="0" rIns="0" bIns="0" rtlCol="0" anchor="ctr"/>
          <a:lstStyle/>
          <a:p>
            <a:pPr indent="0" marL="0">
              <a:buNone/>
            </a:pPr>
            <a:r>
              <a:rPr lang="en-US" sz="1000" b="1" dirty="0">
                <a:solidFill>
                  <a:srgbClr val="320753"/>
                </a:solidFill>
                <a:latin typeface="Arial Black" pitchFamily="34" charset="0"/>
                <a:ea typeface="Arial Black" pitchFamily="34" charset="-122"/>
                <a:cs typeface="Arial Black" pitchFamily="34" charset="-120"/>
              </a:rPr>
              <a:t>Confidentiality</a:t>
            </a:r>
            <a:endParaRPr lang="en-US" sz="1000" dirty="0"/>
          </a:p>
        </p:txBody>
      </p:sp>
      <p:sp>
        <p:nvSpPr>
          <p:cNvPr id="15" name="Text 13"/>
          <p:cNvSpPr/>
          <p:nvPr/>
        </p:nvSpPr>
        <p:spPr>
          <a:xfrm>
            <a:off x="2834640" y="3154680"/>
            <a:ext cx="5943600" cy="411480"/>
          </a:xfrm>
          <a:prstGeom prst="rect">
            <a:avLst/>
          </a:prstGeom>
          <a:noFill/>
          <a:ln/>
        </p:spPr>
        <p:txBody>
          <a:bodyPr wrap="square" lIns="0" tIns="0" rIns="0" bIns="0" rtlCol="0" anchor="ctr"/>
          <a:lstStyle/>
          <a:p>
            <a:pPr indent="0" marL="0">
              <a:buNone/>
            </a:pPr>
            <a:r>
              <a:rPr lang="en-US" sz="950" dirty="0">
                <a:solidFill>
                  <a:srgbClr val="111111"/>
                </a:solidFill>
                <a:latin typeface="Calibri" pitchFamily="34" charset="0"/>
                <a:ea typeface="Calibri" pitchFamily="34" charset="-122"/>
                <a:cs typeface="Calibri" pitchFamily="34" charset="-120"/>
              </a:rPr>
              <a:t>Both parties agree to keep all proprietary business information, strategies and financial data strictly confidential.</a:t>
            </a:r>
            <a:endParaRPr lang="en-US" sz="950" dirty="0"/>
          </a:p>
        </p:txBody>
      </p:sp>
      <p:sp>
        <p:nvSpPr>
          <p:cNvPr id="16" name="Shape 14"/>
          <p:cNvSpPr/>
          <p:nvPr/>
        </p:nvSpPr>
        <p:spPr>
          <a:xfrm>
            <a:off x="365760" y="3657600"/>
            <a:ext cx="91440" cy="411480"/>
          </a:xfrm>
          <a:prstGeom prst="rect">
            <a:avLst/>
          </a:prstGeom>
          <a:solidFill>
            <a:srgbClr val="320753"/>
          </a:solidFill>
          <a:ln w="12700">
            <a:solidFill>
              <a:srgbClr val="320753"/>
            </a:solidFill>
            <a:prstDash val="solid"/>
          </a:ln>
        </p:spPr>
        <p:txBody>
          <a:bodyPr/>
          <a:p/>
        </p:txBody>
      </p:sp>
      <p:sp>
        <p:nvSpPr>
          <p:cNvPr id="17" name="Text 15"/>
          <p:cNvSpPr/>
          <p:nvPr/>
        </p:nvSpPr>
        <p:spPr>
          <a:xfrm>
            <a:off x="566928" y="3657600"/>
            <a:ext cx="2194560" cy="411480"/>
          </a:xfrm>
          <a:prstGeom prst="rect">
            <a:avLst/>
          </a:prstGeom>
          <a:noFill/>
          <a:ln/>
        </p:spPr>
        <p:txBody>
          <a:bodyPr wrap="square" lIns="0" tIns="0" rIns="0" bIns="0" rtlCol="0" anchor="ctr"/>
          <a:lstStyle/>
          <a:p>
            <a:pPr indent="0" marL="0">
              <a:buNone/>
            </a:pPr>
            <a:r>
              <a:rPr lang="en-US" sz="1000" b="1" dirty="0">
                <a:solidFill>
                  <a:srgbClr val="320753"/>
                </a:solidFill>
                <a:latin typeface="Arial Black" pitchFamily="34" charset="0"/>
                <a:ea typeface="Arial Black" pitchFamily="34" charset="-122"/>
                <a:cs typeface="Arial Black" pitchFamily="34" charset="-120"/>
              </a:rPr>
              <a:t>Governing Law</a:t>
            </a:r>
            <a:endParaRPr lang="en-US" sz="1000" dirty="0"/>
          </a:p>
        </p:txBody>
      </p:sp>
      <p:sp>
        <p:nvSpPr>
          <p:cNvPr id="18" name="Text 16"/>
          <p:cNvSpPr/>
          <p:nvPr/>
        </p:nvSpPr>
        <p:spPr>
          <a:xfrm>
            <a:off x="2834640" y="3657600"/>
            <a:ext cx="5943600" cy="411480"/>
          </a:xfrm>
          <a:prstGeom prst="rect">
            <a:avLst/>
          </a:prstGeom>
          <a:noFill/>
          <a:ln/>
        </p:spPr>
        <p:txBody>
          <a:bodyPr wrap="square" lIns="0" tIns="0" rIns="0" bIns="0" rtlCol="0" anchor="ctr"/>
          <a:lstStyle/>
          <a:p>
            <a:pPr indent="0" marL="0">
              <a:buNone/>
            </a:pPr>
            <a:r>
              <a:rPr lang="en-US" sz="950" dirty="0">
                <a:solidFill>
                  <a:srgbClr val="111111"/>
                </a:solidFill>
                <a:latin typeface="Calibri" pitchFamily="34" charset="0"/>
                <a:ea typeface="Calibri" pitchFamily="34" charset="-122"/>
                <a:cs typeface="Calibri" pitchFamily="34" charset="-120"/>
              </a:rPr>
              <a:t>This agreement is governed by the laws of the United Arab Emirates (DIFC). Disputes resolved through good-faith negotiation, then DIFC arbitration.</a:t>
            </a:r>
            <a:endParaRPr lang="en-US" sz="950" dirty="0"/>
          </a:p>
        </p:txBody>
      </p:sp>
      <p:sp>
        <p:nvSpPr>
          <p:cNvPr id="19" name="Shape 17"/>
          <p:cNvSpPr/>
          <p:nvPr/>
        </p:nvSpPr>
        <p:spPr>
          <a:xfrm>
            <a:off x="365760" y="4251960"/>
            <a:ext cx="3657600" cy="502920"/>
          </a:xfrm>
          <a:prstGeom prst="rect">
            <a:avLst/>
          </a:prstGeom>
          <a:solidFill>
            <a:srgbClr val="F8F5FF"/>
          </a:solidFill>
          <a:ln w="12700">
            <a:solidFill>
              <a:srgbClr val="E5D9F2"/>
            </a:solidFill>
            <a:prstDash val="solid"/>
          </a:ln>
        </p:spPr>
        <p:txBody>
          <a:bodyPr/>
          <a:p/>
        </p:txBody>
      </p:sp>
      <p:sp>
        <p:nvSpPr>
          <p:cNvPr id="20" name="Text 18"/>
          <p:cNvSpPr/>
          <p:nvPr/>
        </p:nvSpPr>
        <p:spPr>
          <a:xfrm>
            <a:off x="457200" y="4251960"/>
            <a:ext cx="3474720" cy="256032"/>
          </a:xfrm>
          <a:prstGeom prst="rect">
            <a:avLst/>
          </a:prstGeom>
          <a:noFill/>
          <a:ln/>
        </p:spPr>
        <p:txBody>
          <a:bodyPr wrap="square" lIns="0" tIns="0" rIns="0" bIns="0" rtlCol="0" anchor="ctr"/>
          <a:lstStyle/>
          <a:p>
            <a:pPr indent="0" marL="0">
              <a:buNone/>
            </a:pPr>
            <a:r>
              <a:rPr lang="en-US" sz="900" b="1" dirty="0">
                <a:solidFill>
                  <a:srgbClr val="320753"/>
                </a:solidFill>
                <a:latin typeface="Calibri" pitchFamily="34" charset="0"/>
                <a:ea typeface="Calibri" pitchFamily="34" charset="-122"/>
                <a:cs typeface="Calibri" pitchFamily="34" charset="-120"/>
              </a:rPr>
              <a:t>For Bombay Media</a:t>
            </a:r>
            <a:endParaRPr lang="en-US" sz="900" dirty="0"/>
          </a:p>
        </p:txBody>
      </p:sp>
      <p:sp>
        <p:nvSpPr>
          <p:cNvPr id="21" name="Text 19"/>
          <p:cNvSpPr/>
          <p:nvPr/>
        </p:nvSpPr>
        <p:spPr>
          <a:xfrm>
            <a:off x="457200" y="4480560"/>
            <a:ext cx="3474720" cy="228600"/>
          </a:xfrm>
          <a:prstGeom prst="rect">
            <a:avLst/>
          </a:prstGeom>
          <a:noFill/>
          <a:ln/>
        </p:spPr>
        <p:txBody>
          <a:bodyPr wrap="square" lIns="0" tIns="0" rIns="0" bIns="0" rtlCol="0" anchor="ctr"/>
          <a:lstStyle/>
          <a:p>
            <a:pPr indent="0" marL="0">
              <a:buNone/>
            </a:pPr>
            <a:r>
              <a:rPr lang="en-US" sz="850" dirty="0">
                <a:solidFill>
                  <a:srgbClr val="6B7280"/>
                </a:solidFill>
                <a:latin typeface="Calibri" pitchFamily="34" charset="0"/>
                <a:ea typeface="Calibri" pitchFamily="34" charset="-122"/>
                <a:cs typeface="Calibri" pitchFamily="34" charset="-120"/>
              </a:rPr>
              <a:t>Farhan Rakhangi, Co-Founder &amp; Director  |  Date: __________</a:t>
            </a:r>
            <a:endParaRPr lang="en-US" sz="850" dirty="0"/>
          </a:p>
        </p:txBody>
      </p:sp>
      <p:sp>
        <p:nvSpPr>
          <p:cNvPr id="22" name="Shape 20"/>
          <p:cNvSpPr/>
          <p:nvPr/>
        </p:nvSpPr>
        <p:spPr>
          <a:xfrm>
            <a:off x="5120640" y="4251960"/>
            <a:ext cx="3657600" cy="502920"/>
          </a:xfrm>
          <a:prstGeom prst="rect">
            <a:avLst/>
          </a:prstGeom>
          <a:solidFill>
            <a:srgbClr val="F8F5FF"/>
          </a:solidFill>
          <a:ln w="12700">
            <a:solidFill>
              <a:srgbClr val="E5D9F2"/>
            </a:solidFill>
            <a:prstDash val="solid"/>
          </a:ln>
        </p:spPr>
        <p:txBody>
          <a:bodyPr/>
          <a:p/>
        </p:txBody>
      </p:sp>
      <p:sp>
        <p:nvSpPr>
          <p:cNvPr id="23" name="Text 21"/>
          <p:cNvSpPr/>
          <p:nvPr/>
        </p:nvSpPr>
        <p:spPr>
          <a:xfrm>
            <a:off x="5212080" y="4251960"/>
            <a:ext cx="3474720" cy="256032"/>
          </a:xfrm>
          <a:prstGeom prst="rect">
            <a:avLst/>
          </a:prstGeom>
          <a:noFill/>
          <a:ln/>
        </p:spPr>
        <p:txBody>
          <a:bodyPr wrap="square" lIns="0" tIns="0" rIns="0" bIns="0" rtlCol="0" anchor="ctr"/>
          <a:lstStyle/>
          <a:p>
            <a:pPr indent="0" marL="0">
              <a:buNone/>
            </a:pPr>
            <a:r>
              <a:rPr lang="en-US" sz="900" b="1" dirty="0">
                <a:solidFill>
                  <a:srgbClr val="320753"/>
                </a:solidFill>
                <a:latin typeface="Calibri" pitchFamily="34" charset="0"/>
                <a:ea typeface="Calibri" pitchFamily="34" charset="-122"/>
                <a:cs typeface="Calibri" pitchFamily="34" charset="-120"/>
              </a:rPr>
              <a:t>For Test Client</a:t>
            </a:r>
            <a:endParaRPr lang="en-US" sz="900" dirty="0"/>
          </a:p>
        </p:txBody>
      </p:sp>
      <p:sp>
        <p:nvSpPr>
          <p:cNvPr id="24" name="Text 22"/>
          <p:cNvSpPr/>
          <p:nvPr/>
        </p:nvSpPr>
        <p:spPr>
          <a:xfrm>
            <a:off x="5212080" y="4480560"/>
            <a:ext cx="3474720" cy="228600"/>
          </a:xfrm>
          <a:prstGeom prst="rect">
            <a:avLst/>
          </a:prstGeom>
          <a:noFill/>
          <a:ln/>
        </p:spPr>
        <p:txBody>
          <a:bodyPr wrap="square" lIns="0" tIns="0" rIns="0" bIns="0" rtlCol="0" anchor="ctr"/>
          <a:lstStyle/>
          <a:p>
            <a:pPr indent="0" marL="0">
              <a:buNone/>
            </a:pPr>
            <a:r>
              <a:rPr lang="en-US" sz="850" dirty="0">
                <a:solidFill>
                  <a:srgbClr val="6B7280"/>
                </a:solidFill>
                <a:latin typeface="Calibri" pitchFamily="34" charset="0"/>
                <a:ea typeface="Calibri" pitchFamily="34" charset="-122"/>
                <a:cs typeface="Calibri" pitchFamily="34" charset="-120"/>
              </a:rPr>
              <a:t>[Name], Founder  |  Date: __________</a:t>
            </a:r>
            <a:endParaRPr lang="en-US" sz="850" dirty="0"/>
          </a:p>
        </p:txBody>
      </p:sp>
      <p:sp>
        <p:nvSpPr>
          <p:cNvPr id="25" name="Shape 23"/>
          <p:cNvSpPr/>
          <p:nvPr/>
        </p:nvSpPr>
        <p:spPr>
          <a:xfrm>
            <a:off x="0" y="4846320"/>
            <a:ext cx="9144000" cy="297180"/>
          </a:xfrm>
          <a:prstGeom prst="rect">
            <a:avLst/>
          </a:prstGeom>
          <a:solidFill>
            <a:srgbClr val="FFDE00"/>
          </a:solidFill>
          <a:ln w="12700">
            <a:solidFill>
              <a:srgbClr val="FFDE00"/>
            </a:solidFill>
            <a:prstDash val="solid"/>
          </a:ln>
        </p:spPr>
        <p:txBody>
          <a:bodyPr/>
          <a:p/>
        </p:txBody>
      </p:sp>
      <p:sp>
        <p:nvSpPr>
          <p:cNvPr id="26" name="Text 24"/>
          <p:cNvSpPr/>
          <p:nvPr/>
        </p:nvSpPr>
        <p:spPr>
          <a:xfrm>
            <a:off x="365760" y="4846320"/>
            <a:ext cx="8229600" cy="297180"/>
          </a:xfrm>
          <a:prstGeom prst="rect">
            <a:avLst/>
          </a:prstGeom>
          <a:noFill/>
          <a:ln/>
        </p:spPr>
        <p:txBody>
          <a:bodyPr wrap="square" lIns="0" tIns="0" rIns="0" bIns="0" rtlCol="0" anchor="ctr"/>
          <a:lstStyle/>
          <a:p>
            <a:pPr indent="0" marL="0">
              <a:buNone/>
            </a:pPr>
            <a:r>
              <a:rPr lang="en-US" sz="900" dirty="0">
                <a:solidFill>
                  <a:srgbClr val="320753"/>
                </a:solidFill>
                <a:latin typeface="Calibri" pitchFamily="34" charset="0"/>
                <a:ea typeface="Calibri" pitchFamily="34" charset="-122"/>
                <a:cs typeface="Calibri" pitchFamily="34" charset="-120"/>
              </a:rPr>
              <a:t>BM-2026-0614  |  bombay-media.com</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Slides>
  <Notes>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Slide 1</vt:lpstr>
      <vt:lpstr>Slide 2</vt:lpstr>
      <vt:lpstr>Slide 3</vt:lpstr>
      <vt:lpstr>Slide 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Bombay Media Service Agreement</dc:title>
  <dc:subject>PptxGenJS Presentation</dc:subject>
  <dc:creator>PptxGenJS</dc:creator>
  <cp:lastModifiedBy>PptxGenJS</cp:lastModifiedBy>
  <cp:revision>1</cp:revision>
  <dcterms:created xsi:type="dcterms:W3CDTF">2026-06-06T02:30:35Z</dcterms:created>
  <dcterms:modified xsi:type="dcterms:W3CDTF">2026-06-06T02:30:35Z</dcterms:modified>
</cp:coreProperties>
</file>