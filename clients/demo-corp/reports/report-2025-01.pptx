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320753"/>
                </a:solidFill>
                <a:latin typeface="Arial"/>
              </a:defRPr>
            </a:pPr>
            <a:r>
              <a:rPr sz="1100" b="0" i="0" u="none" strike="noStrike">
                <a:solidFill>
                  <a:srgbClr val="320753"/>
                </a:solidFill>
                <a:latin typeface="Arial"/>
              </a:rPr>
              <a:t>Weekly Revenue Breakdown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($)</c:v>
                </c:pt>
              </c:strCache>
            </c:strRef>
          </c:tx>
          <c:spPr>
            <a:solidFill>
              <a:srgbClr val="3207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Week 1</c:v>
                  </c:pt>
                  <c:pt idx="1">
                    <c:v>Week 2</c:v>
                  </c:pt>
                  <c:pt idx="2">
                    <c:v>Week 3</c:v>
                  </c:pt>
                  <c:pt idx="3">
                    <c:v>Week 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10200</c:v>
                </c:pt>
                <c:pt idx="1">
                  <c:v>13400</c:v>
                </c:pt>
                <c:pt idx="2">
                  <c:v>14800</c:v>
                </c:pt>
                <c:pt idx="3">
                  <c:v>13940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D9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8F5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320753"/>
                </a:solidFill>
                <a:latin typeface="Arial"/>
              </a:defRPr>
            </a:pPr>
            <a:r>
              <a:rPr sz="1000" b="0" i="0" u="none" strike="noStrike">
                <a:solidFill>
                  <a:srgbClr val="320753"/>
                </a:solidFill>
                <a:latin typeface="Arial"/>
              </a:rPr>
              <a:t>Spend Allocation</a:t>
            </a:r>
          </a:p>
        </c:rich>
      </c:tx>
      <c:layout/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Ad Spend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320753"/>
              </a:solidFill>
              <a:effectLst/>
            </c:spPr>
          </c:dPt>
          <c:dPt>
            <c:idx val="1"/>
            <c:bubble3D val="0"/>
            <c:spPr>
              <a:solidFill>
                <a:srgbClr val="37245C"/>
              </a:solidFill>
              <a:effectLst/>
            </c:spPr>
          </c:dPt>
          <c:dPt>
            <c:idx val="2"/>
            <c:bubble3D val="0"/>
            <c:spPr>
              <a:solidFill>
                <a:srgbClr val="FFDE00"/>
              </a:solidFill>
              <a:effectLst/>
            </c:spPr>
          </c:dPt>
          <c:dPt>
            <c:idx val="3"/>
            <c:bubble3D val="0"/>
            <c:spPr>
              <a:solidFill>
                <a:srgbClr val="9F86C0"/>
              </a:solidFill>
              <a:effectLst/>
            </c:spPr>
          </c:dPt>
          <c:dPt>
            <c:idx val="4"/>
            <c:bubble3D val="0"/>
            <c:spPr>
              <a:solidFill>
                <a:srgbClr val="D8B4FE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Cold Video</c:v>
                </c:pt>
                <c:pt idx="1">
                  <c:v>Cold Interest</c:v>
                </c:pt>
                <c:pt idx="2">
                  <c:v>Warm Video</c:v>
                </c:pt>
                <c:pt idx="3">
                  <c:v>Warm Engage</c:v>
                </c:pt>
                <c:pt idx="4">
                  <c:v>Hot Abandon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1840</c:v>
                </c:pt>
                <c:pt idx="1">
                  <c:v>1200</c:v>
                </c:pt>
                <c:pt idx="2">
                  <c:v>1580</c:v>
                </c:pt>
                <c:pt idx="3">
                  <c:v>950</c:v>
                </c:pt>
                <c:pt idx="4">
                  <c:v>660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800">      </a:defRPr>
          </a:pPr>
          <a:endParaRPr lang="en-US"/>
        </a:p>
      </c:txPr>
    </c:legend>
    <c:plotVisOnly val="1"/>
    <c:dispBlanksAs val="span"/>
  </c:chart>
  <c:spPr>
    <a:solidFill>
      <a:srgbClr val="F8F5FF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207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FDE00"/>
          </a:solidFill>
          <a:ln w="12700">
            <a:solidFill>
              <a:srgbClr val="FFDE00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FFDE00"/>
          </a:solidFill>
          <a:ln w="12700">
            <a:solidFill>
              <a:srgbClr val="FFDE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57200" y="731520"/>
            <a:ext cx="822960" cy="822960"/>
          </a:xfrm>
          <a:prstGeom prst="rect">
            <a:avLst/>
          </a:prstGeom>
          <a:solidFill>
            <a:srgbClr val="FFDE00"/>
          </a:solidFill>
          <a:ln w="12700">
            <a:solidFill>
              <a:srgbClr val="FFDE0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731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2075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BM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417320" y="8229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BOMBAY MEDIA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188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D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Performance Marketing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82880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spc="1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MONTHLY</a:t>
            </a:r>
            <a:endParaRPr lang="en-US" sz="4800" dirty="0"/>
          </a:p>
          <a:p>
            <a:pPr indent="0" marL="0">
              <a:buNone/>
            </a:pPr>
            <a:r>
              <a:rPr lang="en-US" sz="4800" b="1" spc="1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PERFORMANCE</a:t>
            </a:r>
            <a:endParaRPr lang="en-US" sz="4800" dirty="0"/>
          </a:p>
          <a:p>
            <a:pPr indent="0" marL="0">
              <a:buNone/>
            </a:pPr>
            <a:r>
              <a:rPr lang="en-US" sz="4800" b="1" spc="1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REPORT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457200" y="35661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8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Client: Demo Corp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886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8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Period: January 2025  |  Prepared by Farhan Rakhangi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FFDE00"/>
          </a:solidFill>
          <a:ln w="12700">
            <a:solidFill>
              <a:srgbClr val="FFDE0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65760" y="4846320"/>
            <a:ext cx="82296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207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|  bmmediagrowth.com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320753"/>
          </a:solidFill>
          <a:ln w="12700">
            <a:solidFill>
              <a:srgbClr val="32075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DE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EXECUTIVE SUMMARY — January 2025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1572768" cy="1645920"/>
          </a:xfrm>
          <a:prstGeom prst="rect">
            <a:avLst/>
          </a:prstGeom>
          <a:solidFill>
            <a:srgbClr val="F8F5FF"/>
          </a:solidFill>
          <a:ln w="12700">
            <a:solidFill>
              <a:srgbClr val="E5D9F2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65760" y="777240"/>
            <a:ext cx="1572768" cy="320040"/>
          </a:xfrm>
          <a:prstGeom prst="rect">
            <a:avLst/>
          </a:prstGeom>
          <a:solidFill>
            <a:srgbClr val="320753"/>
          </a:solidFill>
          <a:ln w="12700">
            <a:solidFill>
              <a:srgbClr val="32075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365760" y="777240"/>
            <a:ext cx="1572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DE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ROAS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65760" y="1143000"/>
            <a:ext cx="15727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2075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3.5×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65760" y="1828800"/>
            <a:ext cx="157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075688" y="777240"/>
            <a:ext cx="1572768" cy="1645920"/>
          </a:xfrm>
          <a:prstGeom prst="rect">
            <a:avLst/>
          </a:prstGeom>
          <a:solidFill>
            <a:srgbClr val="F8F5FF"/>
          </a:solidFill>
          <a:ln w="12700">
            <a:solidFill>
              <a:srgbClr val="E5D9F2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075688" y="777240"/>
            <a:ext cx="1572768" cy="320040"/>
          </a:xfrm>
          <a:prstGeom prst="rect">
            <a:avLst/>
          </a:prstGeom>
          <a:solidFill>
            <a:srgbClr val="320753"/>
          </a:solidFill>
          <a:ln w="12700">
            <a:solidFill>
              <a:srgbClr val="32075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075688" y="777240"/>
            <a:ext cx="1572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DE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REVENUE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075688" y="1143000"/>
            <a:ext cx="15727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2075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$52,769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075688" y="1828800"/>
            <a:ext cx="157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785616" y="777240"/>
            <a:ext cx="1572768" cy="1645920"/>
          </a:xfrm>
          <a:prstGeom prst="rect">
            <a:avLst/>
          </a:prstGeom>
          <a:solidFill>
            <a:srgbClr val="F8F5FF"/>
          </a:solidFill>
          <a:ln w="12700">
            <a:solidFill>
              <a:srgbClr val="E5D9F2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3785616" y="777240"/>
            <a:ext cx="1572768" cy="320040"/>
          </a:xfrm>
          <a:prstGeom prst="rect">
            <a:avLst/>
          </a:prstGeom>
          <a:solidFill>
            <a:srgbClr val="320753"/>
          </a:solidFill>
          <a:ln w="12700">
            <a:solidFill>
              <a:srgbClr val="320753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3785616" y="777240"/>
            <a:ext cx="1572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DE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AD SPEND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785616" y="1143000"/>
            <a:ext cx="15727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2075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$15,160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785616" y="1828800"/>
            <a:ext cx="157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vs last month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495544" y="777240"/>
            <a:ext cx="1572768" cy="1645920"/>
          </a:xfrm>
          <a:prstGeom prst="rect">
            <a:avLst/>
          </a:prstGeom>
          <a:solidFill>
            <a:srgbClr val="F8F5FF"/>
          </a:solidFill>
          <a:ln w="12700">
            <a:solidFill>
              <a:srgbClr val="E5D9F2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495544" y="777240"/>
            <a:ext cx="1572768" cy="320040"/>
          </a:xfrm>
          <a:prstGeom prst="rect">
            <a:avLst/>
          </a:prstGeom>
          <a:solidFill>
            <a:srgbClr val="320753"/>
          </a:solidFill>
          <a:ln w="12700">
            <a:solidFill>
              <a:srgbClr val="320753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495544" y="777240"/>
            <a:ext cx="1572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DE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LEADS GEN.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5495544" y="1143000"/>
            <a:ext cx="15727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2075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392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5495544" y="1828800"/>
            <a:ext cx="157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205472" y="777240"/>
            <a:ext cx="1572768" cy="1645920"/>
          </a:xfrm>
          <a:prstGeom prst="rect">
            <a:avLst/>
          </a:prstGeom>
          <a:solidFill>
            <a:srgbClr val="F8F5FF"/>
          </a:solidFill>
          <a:ln w="12700">
            <a:solidFill>
              <a:srgbClr val="E5D9F2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7205472" y="777240"/>
            <a:ext cx="1572768" cy="320040"/>
          </a:xfrm>
          <a:prstGeom prst="rect">
            <a:avLst/>
          </a:prstGeom>
          <a:solidFill>
            <a:srgbClr val="320753"/>
          </a:solidFill>
          <a:ln w="12700">
            <a:solidFill>
              <a:srgbClr val="320753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7205472" y="777240"/>
            <a:ext cx="1572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DE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CPL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205472" y="1143000"/>
            <a:ext cx="15727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2075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$38.67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7205472" y="1828800"/>
            <a:ext cx="157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365760" y="2606040"/>
          <a:ext cx="50292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0" name="Text 27"/>
          <p:cNvSpPr/>
          <p:nvPr/>
        </p:nvSpPr>
        <p:spPr>
          <a:xfrm>
            <a:off x="5669280" y="26060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2075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5669280" y="30175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D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ROAS at 3.5x — above the 3x guarantee target</a:t>
            </a:r>
            <a:pPr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5669280" y="336499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D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Meta generated 186 conversions at $0.99 CPC with 1.57% CTR.</a:t>
            </a:r>
            <a:pPr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5669280" y="3712464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D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Google Ads consolidated 5,300 clicks at $1.95 CPC across all campaigns.</a:t>
            </a:r>
            <a:pPr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5669280" y="405993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D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Test new Meta creative angles to lift ROAS toward the 3× guarantee target.</a:t>
            </a:r>
            <a:pPr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5669280" y="440740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D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Schedule a 30-minute review call to align on next-period budget allocation.</a:t>
            </a:r>
            <a:pPr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FFDE00"/>
          </a:solidFill>
          <a:ln w="12700">
            <a:solidFill>
              <a:srgbClr val="FFDE00"/>
            </a:solidFill>
            <a:prstDash val="solid"/>
          </a:ln>
        </p:spPr>
        <p:txBody>
          <a:bodyPr/>
          <a:p/>
        </p:txBody>
      </p:sp>
      <p:sp>
        <p:nvSpPr>
          <p:cNvPr id="37" name="Text 34"/>
          <p:cNvSpPr/>
          <p:nvPr/>
        </p:nvSpPr>
        <p:spPr>
          <a:xfrm>
            <a:off x="365760" y="4846320"/>
            <a:ext cx="82296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207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bmmediagrowth.com  | 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320753"/>
          </a:solidFill>
          <a:ln w="12700">
            <a:solidFill>
              <a:srgbClr val="32075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DE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CAMPAIGN PERFORMANCE BREAKDOWN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77240"/>
          <a:ext cx="841248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097280"/>
                <a:gridCol w="1280160"/>
                <a:gridCol w="914400"/>
                <a:gridCol w="1005840"/>
                <a:gridCol w="15544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 Black" pitchFamily="34" charset="0"/>
                          <a:ea typeface="Arial Black" pitchFamily="34" charset="-122"/>
                          <a:cs typeface="Arial Black" pitchFamily="34" charset="-120"/>
                        </a:rPr>
                        <a:t>Campaign</a:t>
                      </a:r>
                      <a:endParaRPr lang="en-US" sz="850" dirty="0">
                        <a:latin typeface="Arial Black" charset="0"/>
                        <a:ea typeface="Arial Black" charset="0"/>
                        <a:cs typeface="Arial Black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075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 Black" pitchFamily="34" charset="0"/>
                          <a:ea typeface="Arial Black" pitchFamily="34" charset="-122"/>
                          <a:cs typeface="Arial Black" pitchFamily="34" charset="-120"/>
                        </a:rPr>
                        <a:t>Spend</a:t>
                      </a:r>
                      <a:endParaRPr lang="en-US" sz="850" dirty="0">
                        <a:latin typeface="Arial Black" charset="0"/>
                        <a:ea typeface="Arial Black" charset="0"/>
                        <a:cs typeface="Arial Black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075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 Black" pitchFamily="34" charset="0"/>
                          <a:ea typeface="Arial Black" pitchFamily="34" charset="-122"/>
                          <a:cs typeface="Arial Black" pitchFamily="34" charset="-120"/>
                        </a:rPr>
                        <a:t>Revenue</a:t>
                      </a:r>
                      <a:endParaRPr lang="en-US" sz="850" dirty="0">
                        <a:latin typeface="Arial Black" charset="0"/>
                        <a:ea typeface="Arial Black" charset="0"/>
                        <a:cs typeface="Arial Black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075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 Black" pitchFamily="34" charset="0"/>
                          <a:ea typeface="Arial Black" pitchFamily="34" charset="-122"/>
                          <a:cs typeface="Arial Black" pitchFamily="34" charset="-120"/>
                        </a:rPr>
                        <a:t>ROAS</a:t>
                      </a:r>
                      <a:endParaRPr lang="en-US" sz="850" dirty="0">
                        <a:latin typeface="Arial Black" charset="0"/>
                        <a:ea typeface="Arial Black" charset="0"/>
                        <a:cs typeface="Arial Black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075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 Black" pitchFamily="34" charset="0"/>
                          <a:ea typeface="Arial Black" pitchFamily="34" charset="-122"/>
                          <a:cs typeface="Arial Black" pitchFamily="34" charset="-120"/>
                        </a:rPr>
                        <a:t>CPL</a:t>
                      </a:r>
                      <a:endParaRPr lang="en-US" sz="850" dirty="0">
                        <a:latin typeface="Arial Black" charset="0"/>
                        <a:ea typeface="Arial Black" charset="0"/>
                        <a:cs typeface="Arial Black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075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 Black" pitchFamily="34" charset="0"/>
                          <a:ea typeface="Arial Black" pitchFamily="34" charset="-122"/>
                          <a:cs typeface="Arial Black" pitchFamily="34" charset="-120"/>
                        </a:rPr>
                        <a:t>Status</a:t>
                      </a:r>
                      <a:endParaRPr lang="en-US" sz="850" dirty="0">
                        <a:latin typeface="Arial Black" charset="0"/>
                        <a:ea typeface="Arial Black" charset="0"/>
                        <a:cs typeface="Arial Black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075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 Ads — All Campaigns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$4,820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$11,569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$25.92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Brand - Search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$18,800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$48.03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Non-brand - Lead Gen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$5,824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$22,400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$52.00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5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207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207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$15,160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207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$52,769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207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207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$38.67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207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0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0" descr=""/>
          <p:cNvGraphicFramePr/>
          <p:nvPr/>
        </p:nvGraphicFramePr>
        <p:xfrm>
          <a:off x="365760" y="3063240"/>
          <a:ext cx="4114800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/>
          <p:nvPr/>
        </p:nvSpPr>
        <p:spPr>
          <a:xfrm>
            <a:off x="4754880" y="30632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2075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Strategist Notes</a:t>
            </a:r>
            <a:endParaRPr lang="en-US" sz="1200" dirty="0"/>
          </a:p>
        </p:txBody>
      </p:sp>
      <p:sp>
        <p:nvSpPr>
          <p:cNvPr id="7" name="Shape 3"/>
          <p:cNvSpPr/>
          <p:nvPr/>
        </p:nvSpPr>
        <p:spPr>
          <a:xfrm>
            <a:off x="4754880" y="3493008"/>
            <a:ext cx="4114800" cy="457200"/>
          </a:xfrm>
          <a:prstGeom prst="rect">
            <a:avLst/>
          </a:prstGeom>
          <a:solidFill>
            <a:srgbClr val="F8F5FF"/>
          </a:solidFill>
          <a:ln w="12700">
            <a:solidFill>
              <a:srgbClr val="E5D9F2"/>
            </a:solidFill>
            <a:prstDash val="solid"/>
          </a:ln>
        </p:spPr>
        <p:txBody>
          <a:bodyPr/>
          <a:p/>
        </p:txBody>
      </p:sp>
      <p:sp>
        <p:nvSpPr>
          <p:cNvPr id="8" name="Shape 4"/>
          <p:cNvSpPr/>
          <p:nvPr/>
        </p:nvSpPr>
        <p:spPr>
          <a:xfrm>
            <a:off x="4754880" y="3493008"/>
            <a:ext cx="82296" cy="457200"/>
          </a:xfrm>
          <a:prstGeom prst="rect">
            <a:avLst/>
          </a:prstGeom>
          <a:solidFill>
            <a:srgbClr val="FFDE00"/>
          </a:solidFill>
          <a:ln w="12700">
            <a:solidFill>
              <a:srgbClr val="FFDE00"/>
            </a:solidFill>
            <a:prstDash val="solid"/>
          </a:ln>
        </p:spPr>
        <p:txBody>
          <a:bodyPr/>
          <a:p/>
        </p:txBody>
      </p:sp>
      <p:sp>
        <p:nvSpPr>
          <p:cNvPr id="9" name="Text 5"/>
          <p:cNvSpPr/>
          <p:nvPr/>
        </p:nvSpPr>
        <p:spPr>
          <a:xfrm>
            <a:off x="4892040" y="3493008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new Meta creative angles to lift ROAS toward the 3× guarantee target.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4754880" y="4041648"/>
            <a:ext cx="4114800" cy="457200"/>
          </a:xfrm>
          <a:prstGeom prst="rect">
            <a:avLst/>
          </a:prstGeom>
          <a:solidFill>
            <a:srgbClr val="F8F5FF"/>
          </a:solidFill>
          <a:ln w="12700">
            <a:solidFill>
              <a:srgbClr val="E5D9F2"/>
            </a:solidFill>
            <a:prstDash val="solid"/>
          </a:ln>
        </p:spPr>
        <p:txBody>
          <a:bodyPr/>
          <a:p/>
        </p:txBody>
      </p:sp>
      <p:sp>
        <p:nvSpPr>
          <p:cNvPr id="11" name="Shape 7"/>
          <p:cNvSpPr/>
          <p:nvPr/>
        </p:nvSpPr>
        <p:spPr>
          <a:xfrm>
            <a:off x="4754880" y="4041648"/>
            <a:ext cx="82296" cy="457200"/>
          </a:xfrm>
          <a:prstGeom prst="rect">
            <a:avLst/>
          </a:prstGeom>
          <a:solidFill>
            <a:srgbClr val="FFDE00"/>
          </a:solidFill>
          <a:ln w="12700">
            <a:solidFill>
              <a:srgbClr val="FFDE00"/>
            </a:solidFill>
            <a:prstDash val="solid"/>
          </a:ln>
        </p:spPr>
        <p:txBody>
          <a:bodyPr/>
          <a:p/>
        </p:txBody>
      </p:sp>
      <p:sp>
        <p:nvSpPr>
          <p:cNvPr id="12" name="Text 8"/>
          <p:cNvSpPr/>
          <p:nvPr/>
        </p:nvSpPr>
        <p:spPr>
          <a:xfrm>
            <a:off x="4892040" y="4041648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a 30-minute review call to align on next-period budget allocation.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4754880" y="4590288"/>
            <a:ext cx="4114800" cy="457200"/>
          </a:xfrm>
          <a:prstGeom prst="rect">
            <a:avLst/>
          </a:prstGeom>
          <a:solidFill>
            <a:srgbClr val="F8F5FF"/>
          </a:solidFill>
          <a:ln w="12700">
            <a:solidFill>
              <a:srgbClr val="E5D9F2"/>
            </a:solidFill>
            <a:prstDash val="solid"/>
          </a:ln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4754880" y="4590288"/>
            <a:ext cx="82296" cy="457200"/>
          </a:xfrm>
          <a:prstGeom prst="rect">
            <a:avLst/>
          </a:prstGeom>
          <a:solidFill>
            <a:srgbClr val="FFDE00"/>
          </a:solidFill>
          <a:ln w="12700">
            <a:solidFill>
              <a:srgbClr val="FFDE00"/>
            </a:solidFill>
            <a:prstDash val="solid"/>
          </a:ln>
        </p:spPr>
        <p:txBody>
          <a:bodyPr/>
          <a:p/>
        </p:txBody>
      </p:sp>
      <p:sp>
        <p:nvSpPr>
          <p:cNvPr id="15" name="Text 11"/>
          <p:cNvSpPr/>
          <p:nvPr/>
        </p:nvSpPr>
        <p:spPr>
          <a:xfrm>
            <a:off x="4892040" y="4590288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a 30-minute review call to align on next-period budget allocation.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FFDE00"/>
          </a:solidFill>
          <a:ln w="12700">
            <a:solidFill>
              <a:srgbClr val="FFDE00"/>
            </a:solidFill>
            <a:prstDash val="solid"/>
          </a:ln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365760" y="4846320"/>
            <a:ext cx="82296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207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bmmediagrowth.com  | 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320753"/>
          </a:solidFill>
          <a:ln w="12700">
            <a:solidFill>
              <a:srgbClr val="32075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DE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NEXT MONTH PLAN &amp; TARGETS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2075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Month 2 Targets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4114800" cy="502920"/>
          </a:xfrm>
          <a:prstGeom prst="rect">
            <a:avLst/>
          </a:prstGeom>
          <a:solidFill>
            <a:srgbClr val="F8F5FF"/>
          </a:solidFill>
          <a:ln w="12700">
            <a:solidFill>
              <a:srgbClr val="E5D9F2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02920" y="12344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ROAS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063240" y="123444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2075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3.7×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" y="1801368"/>
            <a:ext cx="41148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9F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02920" y="180136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Revenue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063240" y="1801368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2075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$60,685+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2368296"/>
            <a:ext cx="4114800" cy="502920"/>
          </a:xfrm>
          <a:prstGeom prst="rect">
            <a:avLst/>
          </a:prstGeom>
          <a:solidFill>
            <a:srgbClr val="F8F5FF"/>
          </a:solidFill>
          <a:ln w="12700">
            <a:solidFill>
              <a:srgbClr val="E5D9F2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02920" y="236829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Ad Spend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063240" y="2368296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2075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$15,917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2935224"/>
            <a:ext cx="41148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9F2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02920" y="2935224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CPL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063240" y="2935224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2075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&lt;$36.74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3502152"/>
            <a:ext cx="4114800" cy="502920"/>
          </a:xfrm>
          <a:prstGeom prst="rect">
            <a:avLst/>
          </a:prstGeom>
          <a:solidFill>
            <a:srgbClr val="F8F5FF"/>
          </a:solidFill>
          <a:ln w="12700">
            <a:solidFill>
              <a:srgbClr val="E5D9F2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02920" y="350215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Leads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063240" y="3502152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2075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451+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46320" y="77724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2075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Action Plan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846320" y="1234440"/>
            <a:ext cx="3931920" cy="475488"/>
          </a:xfrm>
          <a:prstGeom prst="rect">
            <a:avLst/>
          </a:prstGeom>
          <a:solidFill>
            <a:srgbClr val="F8F5FF"/>
          </a:solidFill>
          <a:ln w="12700">
            <a:solidFill>
              <a:srgbClr val="E5D9F2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4846320" y="1234440"/>
            <a:ext cx="502920" cy="475488"/>
          </a:xfrm>
          <a:prstGeom prst="rect">
            <a:avLst/>
          </a:prstGeom>
          <a:solidFill>
            <a:srgbClr val="FFDE00"/>
          </a:solidFill>
          <a:ln w="12700">
            <a:solidFill>
              <a:srgbClr val="FFDE00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846320" y="1234440"/>
            <a:ext cx="502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2075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WK 1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5394960" y="126187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2 new video creatives (testimonial format)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394960" y="1527048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BM Team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4846320" y="1783080"/>
            <a:ext cx="3931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5D9F2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4846320" y="1783080"/>
            <a:ext cx="502920" cy="475488"/>
          </a:xfrm>
          <a:prstGeom prst="rect">
            <a:avLst/>
          </a:prstGeom>
          <a:solidFill>
            <a:srgbClr val="FFDE00"/>
          </a:solidFill>
          <a:ln w="12700">
            <a:solidFill>
              <a:srgbClr val="FFDE00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4846320" y="1783080"/>
            <a:ext cx="502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2075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WK 1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5394960" y="181051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 +15% budget from Interest Stack to Lookalike 1%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394960" y="2075688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BM Team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846320" y="2331720"/>
            <a:ext cx="3931920" cy="475488"/>
          </a:xfrm>
          <a:prstGeom prst="rect">
            <a:avLst/>
          </a:prstGeom>
          <a:solidFill>
            <a:srgbClr val="F8F5FF"/>
          </a:solidFill>
          <a:ln w="12700">
            <a:solidFill>
              <a:srgbClr val="E5D9F2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4846320" y="2331720"/>
            <a:ext cx="502920" cy="475488"/>
          </a:xfrm>
          <a:prstGeom prst="rect">
            <a:avLst/>
          </a:prstGeom>
          <a:solidFill>
            <a:srgbClr val="FFDE00"/>
          </a:solidFill>
          <a:ln w="12700">
            <a:solidFill>
              <a:srgbClr val="FFDE00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4846320" y="2331720"/>
            <a:ext cx="502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2075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WK 2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5394960" y="235915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Hot retargeting to 15% of total spend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394960" y="2624328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BM Team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4846320" y="2880360"/>
            <a:ext cx="3931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5D9F2"/>
            </a:solidFill>
            <a:prstDash val="solid"/>
          </a:ln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4846320" y="2880360"/>
            <a:ext cx="502920" cy="475488"/>
          </a:xfrm>
          <a:prstGeom prst="rect">
            <a:avLst/>
          </a:prstGeom>
          <a:solidFill>
            <a:srgbClr val="FFDE00"/>
          </a:solidFill>
          <a:ln w="12700">
            <a:solidFill>
              <a:srgbClr val="FFDE00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4846320" y="2880360"/>
            <a:ext cx="502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2075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WK 2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5394960" y="290779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audience test: Lookalike 2–5% from purchaser list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5394960" y="3172968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BM Team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846320" y="3429000"/>
            <a:ext cx="3931920" cy="475488"/>
          </a:xfrm>
          <a:prstGeom prst="rect">
            <a:avLst/>
          </a:prstGeom>
          <a:solidFill>
            <a:srgbClr val="F8F5FF"/>
          </a:solidFill>
          <a:ln w="12700">
            <a:solidFill>
              <a:srgbClr val="E5D9F2"/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4846320" y="3429000"/>
            <a:ext cx="502920" cy="475488"/>
          </a:xfrm>
          <a:prstGeom prst="rect">
            <a:avLst/>
          </a:prstGeom>
          <a:solidFill>
            <a:srgbClr val="FFDE00"/>
          </a:solidFill>
          <a:ln w="12700">
            <a:solidFill>
              <a:srgbClr val="FFDE00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4846320" y="3429000"/>
            <a:ext cx="502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2075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WK 3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5394960" y="34564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Mid-month review call — adjust if CPL trending above $20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394960" y="3721608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Farhan + Client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4846320" y="3977640"/>
            <a:ext cx="3931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5D9F2"/>
            </a:solidFill>
            <a:prstDash val="solid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4846320" y="3977640"/>
            <a:ext cx="502920" cy="475488"/>
          </a:xfrm>
          <a:prstGeom prst="rect">
            <a:avLst/>
          </a:prstGeom>
          <a:solidFill>
            <a:srgbClr val="FFDE00"/>
          </a:solidFill>
          <a:ln w="12700">
            <a:solidFill>
              <a:srgbClr val="FFDE00"/>
            </a:solidFill>
            <a:prstDash val="solid"/>
          </a:ln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4846320" y="3977640"/>
            <a:ext cx="502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2075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WK 4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5394960" y="400507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Month-end report + Month 3 planning session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5394960" y="4270248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Farhan + Client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FFDE00"/>
          </a:solidFill>
          <a:ln w="12700">
            <a:solidFill>
              <a:srgbClr val="FFDE00"/>
            </a:solidFill>
            <a:prstDash val="solid"/>
          </a:ln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365760" y="4846320"/>
            <a:ext cx="82296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207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 Book your review call: calendly.com/bombay_media/complimentary-business-success-call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Bombay Media Performance Report</dc:title>
  <dc:subject>PptxGenJS Presentation</dc:subject>
  <dc:creator>PptxGenJS</dc:creator>
  <cp:lastModifiedBy>PptxGenJS</cp:lastModifiedBy>
  <cp:revision>1</cp:revision>
  <dcterms:created xsi:type="dcterms:W3CDTF">2026-06-06T02:33:38Z</dcterms:created>
  <dcterms:modified xsi:type="dcterms:W3CDTF">2026-06-06T02:33:38Z</dcterms:modified>
</cp:coreProperties>
</file>