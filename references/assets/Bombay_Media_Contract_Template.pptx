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075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E00"/>
          </a:solidFill>
          <a:ln w="12700">
            <a:solidFill>
              <a:srgbClr val="FFDE00"/>
            </a:solidFill>
            <a:prstDash val="solid"/>
          </a:ln>
        </p:spPr>
      </p:sp>
      <p:sp>
        <p:nvSpPr>
          <p:cNvPr id="3" name="Shape 1"/>
          <p:cNvSpPr/>
          <p:nvPr/>
        </p:nvSpPr>
        <p:spPr>
          <a:xfrm>
            <a:off x="457200" y="914400"/>
            <a:ext cx="822960" cy="822960"/>
          </a:xfrm>
          <a:prstGeom prst="rect">
            <a:avLst/>
          </a:prstGeom>
          <a:solidFill>
            <a:srgbClr val="FFDE00"/>
          </a:solidFill>
          <a:ln w="12700">
            <a:solidFill>
              <a:srgbClr val="FFDE00"/>
            </a:solidFill>
            <a:prstDash val="solid"/>
          </a:ln>
        </p:spPr>
      </p:sp>
      <p:sp>
        <p:nvSpPr>
          <p:cNvPr id="4" name="Text 2"/>
          <p:cNvSpPr/>
          <p:nvPr/>
        </p:nvSpPr>
        <p:spPr>
          <a:xfrm>
            <a:off x="457200" y="914400"/>
            <a:ext cx="822960" cy="822960"/>
          </a:xfrm>
          <a:prstGeom prst="rect">
            <a:avLst/>
          </a:prstGeom>
          <a:noFill/>
          <a:ln/>
        </p:spPr>
        <p:txBody>
          <a:bodyPr wrap="square" lIns="0" tIns="0" rIns="0" bIns="0" rtlCol="0" anchor="ctr"/>
          <a:lstStyle/>
          <a:p>
            <a:pPr algn="ctr" indent="0" marL="0">
              <a:buNone/>
            </a:pPr>
            <a:r>
              <a:rPr lang="en-US" sz="2400" b="1" dirty="0">
                <a:solidFill>
                  <a:srgbClr val="320753"/>
                </a:solidFill>
                <a:latin typeface="Arial Black" pitchFamily="34" charset="0"/>
                <a:ea typeface="Arial Black" pitchFamily="34" charset="-122"/>
                <a:cs typeface="Arial Black" pitchFamily="34" charset="-120"/>
              </a:rPr>
              <a:t>BM</a:t>
            </a:r>
            <a:endParaRPr lang="en-US" sz="2400" dirty="0"/>
          </a:p>
        </p:txBody>
      </p:sp>
      <p:sp>
        <p:nvSpPr>
          <p:cNvPr id="5" name="Text 3"/>
          <p:cNvSpPr/>
          <p:nvPr/>
        </p:nvSpPr>
        <p:spPr>
          <a:xfrm>
            <a:off x="1417320" y="1005840"/>
            <a:ext cx="365760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Black" pitchFamily="34" charset="0"/>
                <a:ea typeface="Arial Black" pitchFamily="34" charset="-122"/>
                <a:cs typeface="Arial Black" pitchFamily="34" charset="-120"/>
              </a:rPr>
              <a:t>BOMBAY MEDIA</a:t>
            </a:r>
            <a:endParaRPr lang="en-US" sz="1400" dirty="0"/>
          </a:p>
        </p:txBody>
      </p:sp>
      <p:sp>
        <p:nvSpPr>
          <p:cNvPr id="6" name="Text 4"/>
          <p:cNvSpPr/>
          <p:nvPr/>
        </p:nvSpPr>
        <p:spPr>
          <a:xfrm>
            <a:off x="1417320" y="1371600"/>
            <a:ext cx="3657600" cy="274320"/>
          </a:xfrm>
          <a:prstGeom prst="rect">
            <a:avLst/>
          </a:prstGeom>
          <a:noFill/>
          <a:ln/>
        </p:spPr>
        <p:txBody>
          <a:bodyPr wrap="square" lIns="0" tIns="0" rIns="0" bIns="0" rtlCol="0" anchor="ctr"/>
          <a:lstStyle/>
          <a:p>
            <a:pPr indent="0" marL="0">
              <a:buNone/>
            </a:pPr>
            <a:r>
              <a:rPr lang="en-US" sz="1000" dirty="0">
                <a:solidFill>
                  <a:srgbClr val="FFDE00"/>
                </a:solidFill>
                <a:latin typeface="Calibri" pitchFamily="34" charset="0"/>
                <a:ea typeface="Calibri" pitchFamily="34" charset="-122"/>
                <a:cs typeface="Calibri" pitchFamily="34" charset="-120"/>
              </a:rPr>
              <a:t>AI-Powered Performance Marketing</a:t>
            </a:r>
            <a:endParaRPr lang="en-US" sz="1000" dirty="0"/>
          </a:p>
        </p:txBody>
      </p:sp>
      <p:sp>
        <p:nvSpPr>
          <p:cNvPr id="7" name="Shape 5"/>
          <p:cNvSpPr/>
          <p:nvPr/>
        </p:nvSpPr>
        <p:spPr>
          <a:xfrm>
            <a:off x="457200" y="2103120"/>
            <a:ext cx="8229600" cy="54864"/>
          </a:xfrm>
          <a:prstGeom prst="rect">
            <a:avLst/>
          </a:prstGeom>
          <a:solidFill>
            <a:srgbClr val="9F86C0"/>
          </a:solidFill>
          <a:ln w="12700">
            <a:solidFill>
              <a:srgbClr val="9F86C0"/>
            </a:solidFill>
            <a:prstDash val="solid"/>
          </a:ln>
        </p:spPr>
      </p:sp>
      <p:sp>
        <p:nvSpPr>
          <p:cNvPr id="8" name="Text 6"/>
          <p:cNvSpPr/>
          <p:nvPr/>
        </p:nvSpPr>
        <p:spPr>
          <a:xfrm>
            <a:off x="457200" y="2331720"/>
            <a:ext cx="8229600" cy="594360"/>
          </a:xfrm>
          <a:prstGeom prst="rect">
            <a:avLst/>
          </a:prstGeom>
          <a:noFill/>
          <a:ln/>
        </p:spPr>
        <p:txBody>
          <a:bodyPr wrap="square" lIns="0" tIns="0" rIns="0" bIns="0" rtlCol="0" anchor="ctr"/>
          <a:lstStyle/>
          <a:p>
            <a:pPr indent="0" marL="0">
              <a:buNone/>
            </a:pPr>
            <a:r>
              <a:rPr lang="en-US" sz="3400" b="1" spc="200" kern="0" dirty="0">
                <a:solidFill>
                  <a:srgbClr val="FFFFFF"/>
                </a:solidFill>
                <a:latin typeface="Arial Black" pitchFamily="34" charset="0"/>
                <a:ea typeface="Arial Black" pitchFamily="34" charset="-122"/>
                <a:cs typeface="Arial Black" pitchFamily="34" charset="-120"/>
              </a:rPr>
              <a:t>SERVICE AGREEMENT</a:t>
            </a:r>
            <a:endParaRPr lang="en-US" sz="3400" dirty="0"/>
          </a:p>
        </p:txBody>
      </p:sp>
      <p:sp>
        <p:nvSpPr>
          <p:cNvPr id="9" name="Text 7"/>
          <p:cNvSpPr/>
          <p:nvPr/>
        </p:nvSpPr>
        <p:spPr>
          <a:xfrm>
            <a:off x="457200" y="2971800"/>
            <a:ext cx="8229600" cy="365760"/>
          </a:xfrm>
          <a:prstGeom prst="rect">
            <a:avLst/>
          </a:prstGeom>
          <a:noFill/>
          <a:ln/>
        </p:spPr>
        <p:txBody>
          <a:bodyPr wrap="square" lIns="0" tIns="0" rIns="0" bIns="0" rtlCol="0" anchor="ctr"/>
          <a:lstStyle/>
          <a:p>
            <a:pPr indent="0" marL="0">
              <a:buNone/>
            </a:pPr>
            <a:r>
              <a:rPr lang="en-US" sz="1600" dirty="0">
                <a:solidFill>
                  <a:srgbClr val="FFDE00"/>
                </a:solidFill>
                <a:latin typeface="Calibri" pitchFamily="34" charset="0"/>
                <a:ea typeface="Calibri" pitchFamily="34" charset="-122"/>
                <a:cs typeface="Calibri" pitchFamily="34" charset="-120"/>
              </a:rPr>
              <a:t>Performance Marketing Partnership</a:t>
            </a:r>
            <a:endParaRPr lang="en-US" sz="1600" dirty="0"/>
          </a:p>
        </p:txBody>
      </p:sp>
      <p:sp>
        <p:nvSpPr>
          <p:cNvPr id="10" name="Text 8"/>
          <p:cNvSpPr/>
          <p:nvPr/>
        </p:nvSpPr>
        <p:spPr>
          <a:xfrm>
            <a:off x="457200" y="365760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Client:  [CLIENT COMPANY NAME]</a:t>
            </a:r>
            <a:endParaRPr lang="en-US" sz="1100" dirty="0"/>
          </a:p>
        </p:txBody>
      </p:sp>
      <p:sp>
        <p:nvSpPr>
          <p:cNvPr id="11" name="Text 9"/>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Date:    [DD MONTH YYYY]</a:t>
            </a:r>
            <a:endParaRPr lang="en-US" sz="1100" dirty="0"/>
          </a:p>
        </p:txBody>
      </p:sp>
      <p:sp>
        <p:nvSpPr>
          <p:cNvPr id="12" name="Text 10"/>
          <p:cNvSpPr/>
          <p:nvPr/>
        </p:nvSpPr>
        <p:spPr>
          <a:xfrm>
            <a:off x="457200" y="420624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Agreement No:  BM-2025-001</a:t>
            </a:r>
            <a:endParaRPr lang="en-US" sz="1100" dirty="0"/>
          </a:p>
        </p:txBody>
      </p:sp>
      <p:sp>
        <p:nvSpPr>
          <p:cNvPr id="13" name="Shape 11"/>
          <p:cNvSpPr/>
          <p:nvPr/>
        </p:nvSpPr>
        <p:spPr>
          <a:xfrm>
            <a:off x="0" y="4846320"/>
            <a:ext cx="9144000" cy="297180"/>
          </a:xfrm>
          <a:prstGeom prst="rect">
            <a:avLst/>
          </a:prstGeom>
          <a:solidFill>
            <a:srgbClr val="FFDE00"/>
          </a:solidFill>
          <a:ln w="12700">
            <a:solidFill>
              <a:srgbClr val="FFDE00"/>
            </a:solidFill>
            <a:prstDash val="solid"/>
          </a:ln>
        </p:spPr>
      </p:sp>
      <p:sp>
        <p:nvSpPr>
          <p:cNvPr id="14" name="Text 12"/>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CONFIDENTIAL — For Recipient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1. PARTIES &amp; SCOPE OF AGREEMENT</a:t>
            </a:r>
            <a:endParaRPr lang="en-US" sz="1200" dirty="0"/>
          </a:p>
        </p:txBody>
      </p:sp>
      <p:sp>
        <p:nvSpPr>
          <p:cNvPr id="4" name="Shape 2"/>
          <p:cNvSpPr/>
          <p:nvPr/>
        </p:nvSpPr>
        <p:spPr>
          <a:xfrm>
            <a:off x="365760" y="777240"/>
            <a:ext cx="3840480" cy="2194560"/>
          </a:xfrm>
          <a:prstGeom prst="rect">
            <a:avLst/>
          </a:prstGeom>
          <a:solidFill>
            <a:srgbClr val="F8F5FF"/>
          </a:solidFill>
          <a:ln w="12700">
            <a:solidFill>
              <a:srgbClr val="E5D9F2"/>
            </a:solidFill>
            <a:prstDash val="solid"/>
          </a:ln>
        </p:spPr>
      </p:sp>
      <p:sp>
        <p:nvSpPr>
          <p:cNvPr id="5" name="Shape 3"/>
          <p:cNvSpPr/>
          <p:nvPr/>
        </p:nvSpPr>
        <p:spPr>
          <a:xfrm>
            <a:off x="365760" y="777240"/>
            <a:ext cx="3840480" cy="347472"/>
          </a:xfrm>
          <a:prstGeom prst="rect">
            <a:avLst/>
          </a:prstGeom>
          <a:solidFill>
            <a:srgbClr val="37245C"/>
          </a:solidFill>
          <a:ln w="12700">
            <a:solidFill>
              <a:srgbClr val="37245C"/>
            </a:solidFill>
            <a:prstDash val="solid"/>
          </a:ln>
        </p:spPr>
      </p:sp>
      <p:sp>
        <p:nvSpPr>
          <p:cNvPr id="6" name="Text 4"/>
          <p:cNvSpPr/>
          <p:nvPr/>
        </p:nvSpPr>
        <p:spPr>
          <a:xfrm>
            <a:off x="36576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FFDE00"/>
                </a:solidFill>
                <a:latin typeface="Arial Black" pitchFamily="34" charset="0"/>
                <a:ea typeface="Arial Black" pitchFamily="34" charset="-122"/>
                <a:cs typeface="Arial Black" pitchFamily="34" charset="-120"/>
              </a:rPr>
              <a:t>SERVICE PROVIDER</a:t>
            </a:r>
            <a:endParaRPr lang="en-US" sz="900" dirty="0"/>
          </a:p>
        </p:txBody>
      </p:sp>
      <p:sp>
        <p:nvSpPr>
          <p:cNvPr id="7" name="Text 5"/>
          <p:cNvSpPr/>
          <p:nvPr/>
        </p:nvSpPr>
        <p:spPr>
          <a:xfrm>
            <a:off x="50292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Bombay Media FZE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United Arab Emirates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 Rakhangi, Co-Founder &amp; Director of Growth</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farhan@bombay-media.com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bmmediagrowth.com</a:t>
            </a:r>
            <a:endParaRPr lang="en-US" sz="1000" dirty="0"/>
          </a:p>
        </p:txBody>
      </p:sp>
      <p:sp>
        <p:nvSpPr>
          <p:cNvPr id="8" name="Shape 6"/>
          <p:cNvSpPr/>
          <p:nvPr/>
        </p:nvSpPr>
        <p:spPr>
          <a:xfrm>
            <a:off x="4572000" y="777240"/>
            <a:ext cx="3840480" cy="2194560"/>
          </a:xfrm>
          <a:prstGeom prst="rect">
            <a:avLst/>
          </a:prstGeom>
          <a:solidFill>
            <a:srgbClr val="F8F5FF"/>
          </a:solidFill>
          <a:ln w="12700">
            <a:solidFill>
              <a:srgbClr val="E5D9F2"/>
            </a:solidFill>
            <a:prstDash val="solid"/>
          </a:ln>
        </p:spPr>
      </p:sp>
      <p:sp>
        <p:nvSpPr>
          <p:cNvPr id="9" name="Shape 7"/>
          <p:cNvSpPr/>
          <p:nvPr/>
        </p:nvSpPr>
        <p:spPr>
          <a:xfrm>
            <a:off x="4572000" y="777240"/>
            <a:ext cx="3840480" cy="347472"/>
          </a:xfrm>
          <a:prstGeom prst="rect">
            <a:avLst/>
          </a:prstGeom>
          <a:solidFill>
            <a:srgbClr val="FFDE00"/>
          </a:solidFill>
          <a:ln w="12700">
            <a:solidFill>
              <a:srgbClr val="FFDE00"/>
            </a:solidFill>
            <a:prstDash val="solid"/>
          </a:ln>
        </p:spPr>
      </p:sp>
      <p:sp>
        <p:nvSpPr>
          <p:cNvPr id="10" name="Text 8"/>
          <p:cNvSpPr/>
          <p:nvPr/>
        </p:nvSpPr>
        <p:spPr>
          <a:xfrm>
            <a:off x="457200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320753"/>
                </a:solidFill>
                <a:latin typeface="Arial Black" pitchFamily="34" charset="0"/>
                <a:ea typeface="Arial Black" pitchFamily="34" charset="-122"/>
                <a:cs typeface="Arial Black" pitchFamily="34" charset="-120"/>
              </a:rPr>
              <a:t>CLIENT</a:t>
            </a:r>
            <a:endParaRPr lang="en-US" sz="900" dirty="0"/>
          </a:p>
        </p:txBody>
      </p:sp>
      <p:sp>
        <p:nvSpPr>
          <p:cNvPr id="11" name="Text 9"/>
          <p:cNvSpPr/>
          <p:nvPr/>
        </p:nvSpPr>
        <p:spPr>
          <a:xfrm>
            <a:off x="470916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[Client Company Name]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[City, Country]</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[Primary Contact Name], [Title]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[Email Address]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[Website URL]</a:t>
            </a:r>
            <a:endParaRPr lang="en-US" sz="1000" dirty="0"/>
          </a:p>
        </p:txBody>
      </p:sp>
      <p:sp>
        <p:nvSpPr>
          <p:cNvPr id="12" name="Text 10"/>
          <p:cNvSpPr/>
          <p:nvPr/>
        </p:nvSpPr>
        <p:spPr>
          <a:xfrm>
            <a:off x="365760" y="3108960"/>
            <a:ext cx="8229600" cy="320040"/>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Scope of Services</a:t>
            </a:r>
            <a:endParaRPr lang="en-US" sz="1400" dirty="0"/>
          </a:p>
        </p:txBody>
      </p:sp>
      <p:sp>
        <p:nvSpPr>
          <p:cNvPr id="13" name="Text 11"/>
          <p:cNvSpPr/>
          <p:nvPr/>
        </p:nvSpPr>
        <p:spPr>
          <a:xfrm>
            <a:off x="365760" y="3493008"/>
            <a:ext cx="8412480" cy="548640"/>
          </a:xfrm>
          <a:prstGeom prst="rect">
            <a:avLst/>
          </a:prstGeom>
          <a:noFill/>
          <a:ln/>
        </p:spPr>
        <p:txBody>
          <a:bodyPr wrap="square" lIns="0" tIns="0" rIns="0" bIns="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Bombay Media agrees to deliver AI-powered Meta Ads management and content marketing services as outlined in the attached Statement of Work (SOW). </a:t>
            </a:r>
            <a:pPr indent="0" marL="0">
              <a:buNone/>
            </a:pPr>
            <a:r>
              <a:rPr lang="en-US" sz="1050" dirty="0">
                <a:solidFill>
                  <a:srgbClr val="111111"/>
                </a:solidFill>
                <a:latin typeface="Calibri" pitchFamily="34" charset="0"/>
                <a:ea typeface="Calibri" pitchFamily="34" charset="-122"/>
                <a:cs typeface="Calibri" pitchFamily="34" charset="-120"/>
              </a:rPr>
              <a:t>This agreement is governed by the terms below and the 90-day performance guarantee.</a:t>
            </a:r>
            <a:endParaRPr lang="en-US" sz="1050" dirty="0"/>
          </a:p>
        </p:txBody>
      </p:sp>
      <p:sp>
        <p:nvSpPr>
          <p:cNvPr id="14" name="Shape 12"/>
          <p:cNvSpPr/>
          <p:nvPr/>
        </p:nvSpPr>
        <p:spPr>
          <a:xfrm>
            <a:off x="0" y="4846320"/>
            <a:ext cx="9144000" cy="297180"/>
          </a:xfrm>
          <a:prstGeom prst="rect">
            <a:avLst/>
          </a:prstGeom>
          <a:solidFill>
            <a:srgbClr val="FFDE00"/>
          </a:solidFill>
          <a:ln w="12700">
            <a:solidFill>
              <a:srgbClr val="FFDE00"/>
            </a:solidFill>
            <a:prstDash val="solid"/>
          </a:ln>
        </p:spPr>
      </p:sp>
      <p:sp>
        <p:nvSpPr>
          <p:cNvPr id="15" name="Text 13"/>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BM-2025-001  |  bombay-media.com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2. DELIVERABLES &amp; FEES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914400"/>
        </p:xfrm>
        <a:graphic>
          <a:graphicData uri="http://schemas.openxmlformats.org/drawingml/2006/table">
            <a:tbl>
              <a:tblPr/>
              <a:tblGrid>
                <a:gridCol w="2743200"/>
                <a:gridCol w="56692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Deliverable</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Description</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Meta Ads Management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Full campaign setup, creative testing, audience optimisation, weekly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Content Marketing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AI-generated ad creatives, carousel assets, copy, monthly content calendar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Analytics &amp;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Weekly ROAS dashboard, monthly performance review call with Farhan directly</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Strategy &amp; Optimisation</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A/B test cycles, funnel audits, spend reallocation recommendations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bl>
          </a:graphicData>
        </a:graphic>
      </p:graphicFrame>
      <p:sp>
        <p:nvSpPr>
          <p:cNvPr id="5" name="Text 2"/>
          <p:cNvSpPr/>
          <p:nvPr/>
        </p:nvSpPr>
        <p:spPr>
          <a:xfrm>
            <a:off x="365760" y="3017520"/>
            <a:ext cx="8229600" cy="347472"/>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Investment</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914400"/>
        </p:xfrm>
        <a:graphic>
          <a:graphicData uri="http://schemas.openxmlformats.org/drawingml/2006/table">
            <a:tbl>
              <a:tblPr/>
              <a:tblGrid>
                <a:gridCol w="3200400"/>
                <a:gridCol w="2286000"/>
                <a:gridCol w="29260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Fee Item</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Amount</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Payment Terms</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Setup Fee (one-time)</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on signing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Monthly Retainer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1st of each 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Ad Spend (client-managed)</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$3,000–$10,000/month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Paid direct to Meta by client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Performance Bonus (optional)</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10% of revenue above 3× ROAS target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Invoiced monthly in arrears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bl>
          </a:graphicData>
        </a:graphic>
      </p:graphicFrame>
      <p:sp>
        <p:nvSpPr>
          <p:cNvPr id="7" name="Shape 3"/>
          <p:cNvSpPr/>
          <p:nvPr/>
        </p:nvSpPr>
        <p:spPr>
          <a:xfrm>
            <a:off x="0" y="4846320"/>
            <a:ext cx="9144000" cy="297180"/>
          </a:xfrm>
          <a:prstGeom prst="rect">
            <a:avLst/>
          </a:prstGeom>
          <a:solidFill>
            <a:srgbClr val="FFDE00"/>
          </a:solidFill>
          <a:ln w="12700">
            <a:solidFill>
              <a:srgbClr val="FFDE00"/>
            </a:solidFill>
            <a:prstDash val="solid"/>
          </a:ln>
        </p:spPr>
      </p:sp>
      <p:sp>
        <p:nvSpPr>
          <p:cNvPr id="8" name="Text 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BM-2025-001  |  bombay-media.com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3. TERMS, GUARANTEE &amp; SIGNATURES</a:t>
            </a:r>
            <a:endParaRPr lang="en-US" sz="1200" dirty="0"/>
          </a:p>
        </p:txBody>
      </p:sp>
      <p:sp>
        <p:nvSpPr>
          <p:cNvPr id="4" name="Shape 2"/>
          <p:cNvSpPr/>
          <p:nvPr/>
        </p:nvSpPr>
        <p:spPr>
          <a:xfrm>
            <a:off x="365760" y="777240"/>
            <a:ext cx="8412480" cy="1234440"/>
          </a:xfrm>
          <a:prstGeom prst="rect">
            <a:avLst/>
          </a:prstGeom>
          <a:solidFill>
            <a:srgbClr val="FFDE00"/>
          </a:solidFill>
          <a:ln w="12700">
            <a:solidFill>
              <a:srgbClr val="FFDE00"/>
            </a:solidFill>
            <a:prstDash val="solid"/>
          </a:ln>
        </p:spPr>
      </p:sp>
      <p:sp>
        <p:nvSpPr>
          <p:cNvPr id="5" name="Text 3"/>
          <p:cNvSpPr/>
          <p:nvPr/>
        </p:nvSpPr>
        <p:spPr>
          <a:xfrm>
            <a:off x="548640" y="822960"/>
            <a:ext cx="8046720" cy="347472"/>
          </a:xfrm>
          <a:prstGeom prst="rect">
            <a:avLst/>
          </a:prstGeom>
          <a:noFill/>
          <a:ln/>
        </p:spPr>
        <p:txBody>
          <a:bodyPr wrap="square" lIns="0" tIns="0" rIns="0" bIns="0" rtlCol="0" anchor="ctr"/>
          <a:lstStyle/>
          <a:p>
            <a:pPr indent="0" marL="0">
              <a:buNone/>
            </a:pPr>
            <a:r>
              <a:rPr lang="en-US" sz="1300" b="1" dirty="0">
                <a:solidFill>
                  <a:srgbClr val="320753"/>
                </a:solidFill>
                <a:latin typeface="Arial Black" pitchFamily="34" charset="0"/>
                <a:ea typeface="Arial Black" pitchFamily="34" charset="-122"/>
                <a:cs typeface="Arial Black" pitchFamily="34" charset="-120"/>
              </a:rPr>
              <a:t>3× ROAS PERFORMANCE GUARANTEE</a:t>
            </a:r>
            <a:endParaRPr lang="en-US" sz="1300" dirty="0"/>
          </a:p>
        </p:txBody>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000" dirty="0">
                <a:solidFill>
                  <a:srgbClr val="320753"/>
                </a:solidFill>
                <a:latin typeface="Calibri" pitchFamily="34" charset="0"/>
                <a:ea typeface="Calibri" pitchFamily="34" charset="-122"/>
                <a:cs typeface="Calibri" pitchFamily="34" charset="-120"/>
              </a:rPr>
              <a:t>If Bombay Media does not deliver a minimum 3× return on ad spend within 90 days of campaign launch, we will continue to manage your campaigns at no additional cost until the guarantee is met. Ad spend remains the client's responsibility throughout.</a:t>
            </a:r>
            <a:endParaRPr lang="en-US" sz="1000" dirty="0"/>
          </a:p>
        </p:txBody>
      </p:sp>
      <p:sp>
        <p:nvSpPr>
          <p:cNvPr id="7" name="Shape 5"/>
          <p:cNvSpPr/>
          <p:nvPr/>
        </p:nvSpPr>
        <p:spPr>
          <a:xfrm>
            <a:off x="365760" y="2148840"/>
            <a:ext cx="91440" cy="411480"/>
          </a:xfrm>
          <a:prstGeom prst="rect">
            <a:avLst/>
          </a:prstGeom>
          <a:solidFill>
            <a:srgbClr val="320753"/>
          </a:solidFill>
          <a:ln w="12700">
            <a:solidFill>
              <a:srgbClr val="320753"/>
            </a:solidFill>
            <a:prstDash val="solid"/>
          </a:ln>
        </p:spPr>
      </p:sp>
      <p:sp>
        <p:nvSpPr>
          <p:cNvPr id="8" name="Text 6"/>
          <p:cNvSpPr/>
          <p:nvPr/>
        </p:nvSpPr>
        <p:spPr>
          <a:xfrm>
            <a:off x="566928" y="214884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Term &amp; Termination</a:t>
            </a:r>
            <a:endParaRPr lang="en-US" sz="1000" dirty="0"/>
          </a:p>
        </p:txBody>
      </p:sp>
      <p:sp>
        <p:nvSpPr>
          <p:cNvPr id="9" name="Text 7"/>
          <p:cNvSpPr/>
          <p:nvPr/>
        </p:nvSpPr>
        <p:spPr>
          <a:xfrm>
            <a:off x="2834640" y="214884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Initial term: 90 days. Either party may terminate with 30 days written notice after the initial term. No refunds on setup fees.</a:t>
            </a:r>
            <a:endParaRPr lang="en-US" sz="950" dirty="0"/>
          </a:p>
        </p:txBody>
      </p:sp>
      <p:sp>
        <p:nvSpPr>
          <p:cNvPr id="10" name="Shape 8"/>
          <p:cNvSpPr/>
          <p:nvPr/>
        </p:nvSpPr>
        <p:spPr>
          <a:xfrm>
            <a:off x="365760" y="2651760"/>
            <a:ext cx="91440" cy="411480"/>
          </a:xfrm>
          <a:prstGeom prst="rect">
            <a:avLst/>
          </a:prstGeom>
          <a:solidFill>
            <a:srgbClr val="320753"/>
          </a:solidFill>
          <a:ln w="12700">
            <a:solidFill>
              <a:srgbClr val="320753"/>
            </a:solidFill>
            <a:prstDash val="solid"/>
          </a:ln>
        </p:spPr>
      </p:sp>
      <p:sp>
        <p:nvSpPr>
          <p:cNvPr id="11" name="Text 9"/>
          <p:cNvSpPr/>
          <p:nvPr/>
        </p:nvSpPr>
        <p:spPr>
          <a:xfrm>
            <a:off x="566928" y="265176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Intellectual Property</a:t>
            </a:r>
            <a:endParaRPr lang="en-US" sz="1000" dirty="0"/>
          </a:p>
        </p:txBody>
      </p:sp>
      <p:sp>
        <p:nvSpPr>
          <p:cNvPr id="12" name="Text 10"/>
          <p:cNvSpPr/>
          <p:nvPr/>
        </p:nvSpPr>
        <p:spPr>
          <a:xfrm>
            <a:off x="2834640" y="265176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All campaign assets created by Bombay Media remain the property of the client upon full payment. Agency retains the right to use anonymised metrics as case studies.</a:t>
            </a:r>
            <a:endParaRPr lang="en-US" sz="950" dirty="0"/>
          </a:p>
        </p:txBody>
      </p:sp>
      <p:sp>
        <p:nvSpPr>
          <p:cNvPr id="13" name="Shape 11"/>
          <p:cNvSpPr/>
          <p:nvPr/>
        </p:nvSpPr>
        <p:spPr>
          <a:xfrm>
            <a:off x="365760" y="3154680"/>
            <a:ext cx="91440" cy="411480"/>
          </a:xfrm>
          <a:prstGeom prst="rect">
            <a:avLst/>
          </a:prstGeom>
          <a:solidFill>
            <a:srgbClr val="320753"/>
          </a:solidFill>
          <a:ln w="12700">
            <a:solidFill>
              <a:srgbClr val="320753"/>
            </a:solidFill>
            <a:prstDash val="solid"/>
          </a:ln>
        </p:spPr>
      </p:sp>
      <p:sp>
        <p:nvSpPr>
          <p:cNvPr id="14" name="Text 12"/>
          <p:cNvSpPr/>
          <p:nvPr/>
        </p:nvSpPr>
        <p:spPr>
          <a:xfrm>
            <a:off x="566928" y="315468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Confidentiality</a:t>
            </a:r>
            <a:endParaRPr lang="en-US" sz="1000" dirty="0"/>
          </a:p>
        </p:txBody>
      </p:sp>
      <p:sp>
        <p:nvSpPr>
          <p:cNvPr id="15" name="Text 13"/>
          <p:cNvSpPr/>
          <p:nvPr/>
        </p:nvSpPr>
        <p:spPr>
          <a:xfrm>
            <a:off x="2834640" y="315468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Both parties agree to keep all proprietary business information, strategies and financial data strictly confidential.</a:t>
            </a:r>
            <a:endParaRPr lang="en-US" sz="950" dirty="0"/>
          </a:p>
        </p:txBody>
      </p:sp>
      <p:sp>
        <p:nvSpPr>
          <p:cNvPr id="16" name="Shape 14"/>
          <p:cNvSpPr/>
          <p:nvPr/>
        </p:nvSpPr>
        <p:spPr>
          <a:xfrm>
            <a:off x="365760" y="3657600"/>
            <a:ext cx="91440" cy="411480"/>
          </a:xfrm>
          <a:prstGeom prst="rect">
            <a:avLst/>
          </a:prstGeom>
          <a:solidFill>
            <a:srgbClr val="320753"/>
          </a:solidFill>
          <a:ln w="12700">
            <a:solidFill>
              <a:srgbClr val="320753"/>
            </a:solidFill>
            <a:prstDash val="solid"/>
          </a:ln>
        </p:spPr>
      </p:sp>
      <p:sp>
        <p:nvSpPr>
          <p:cNvPr id="17" name="Text 15"/>
          <p:cNvSpPr/>
          <p:nvPr/>
        </p:nvSpPr>
        <p:spPr>
          <a:xfrm>
            <a:off x="566928" y="365760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Governing Law</a:t>
            </a:r>
            <a:endParaRPr lang="en-US" sz="1000" dirty="0"/>
          </a:p>
        </p:txBody>
      </p:sp>
      <p:sp>
        <p:nvSpPr>
          <p:cNvPr id="18" name="Text 16"/>
          <p:cNvSpPr/>
          <p:nvPr/>
        </p:nvSpPr>
        <p:spPr>
          <a:xfrm>
            <a:off x="2834640" y="365760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This agreement is governed by the laws of the United Arab Emirates (DIFC). Disputes resolved through good-faith negotiation, then DIFC arbitration.</a:t>
            </a:r>
            <a:endParaRPr lang="en-US" sz="950" dirty="0"/>
          </a:p>
        </p:txBody>
      </p:sp>
      <p:sp>
        <p:nvSpPr>
          <p:cNvPr id="19" name="Shape 17"/>
          <p:cNvSpPr/>
          <p:nvPr/>
        </p:nvSpPr>
        <p:spPr>
          <a:xfrm>
            <a:off x="365760" y="4251960"/>
            <a:ext cx="3657600" cy="502920"/>
          </a:xfrm>
          <a:prstGeom prst="rect">
            <a:avLst/>
          </a:prstGeom>
          <a:solidFill>
            <a:srgbClr val="F8F5FF"/>
          </a:solidFill>
          <a:ln w="12700">
            <a:solidFill>
              <a:srgbClr val="E5D9F2"/>
            </a:solidFill>
            <a:prstDash val="solid"/>
          </a:ln>
        </p:spPr>
      </p:sp>
      <p:sp>
        <p:nvSpPr>
          <p:cNvPr id="20" name="Text 18"/>
          <p:cNvSpPr/>
          <p:nvPr/>
        </p:nvSpPr>
        <p:spPr>
          <a:xfrm>
            <a:off x="45720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Bombay Media</a:t>
            </a:r>
            <a:endParaRPr lang="en-US" sz="900" dirty="0"/>
          </a:p>
        </p:txBody>
      </p:sp>
      <p:sp>
        <p:nvSpPr>
          <p:cNvPr id="21" name="Text 19"/>
          <p:cNvSpPr/>
          <p:nvPr/>
        </p:nvSpPr>
        <p:spPr>
          <a:xfrm>
            <a:off x="45720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Farhan Rakhangi, Co-Founder &amp; Director  |  Date: __________</a:t>
            </a:r>
            <a:endParaRPr lang="en-US" sz="850" dirty="0"/>
          </a:p>
        </p:txBody>
      </p:sp>
      <p:sp>
        <p:nvSpPr>
          <p:cNvPr id="22" name="Shape 20"/>
          <p:cNvSpPr/>
          <p:nvPr/>
        </p:nvSpPr>
        <p:spPr>
          <a:xfrm>
            <a:off x="5120640" y="4251960"/>
            <a:ext cx="3657600" cy="502920"/>
          </a:xfrm>
          <a:prstGeom prst="rect">
            <a:avLst/>
          </a:prstGeom>
          <a:solidFill>
            <a:srgbClr val="F8F5FF"/>
          </a:solidFill>
          <a:ln w="12700">
            <a:solidFill>
              <a:srgbClr val="E5D9F2"/>
            </a:solidFill>
            <a:prstDash val="solid"/>
          </a:ln>
        </p:spPr>
      </p:sp>
      <p:sp>
        <p:nvSpPr>
          <p:cNvPr id="23" name="Text 21"/>
          <p:cNvSpPr/>
          <p:nvPr/>
        </p:nvSpPr>
        <p:spPr>
          <a:xfrm>
            <a:off x="521208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[Client Company]</a:t>
            </a:r>
            <a:endParaRPr lang="en-US" sz="900" dirty="0"/>
          </a:p>
        </p:txBody>
      </p:sp>
      <p:sp>
        <p:nvSpPr>
          <p:cNvPr id="24" name="Text 22"/>
          <p:cNvSpPr/>
          <p:nvPr/>
        </p:nvSpPr>
        <p:spPr>
          <a:xfrm>
            <a:off x="521208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[Name], [Title]  |  Date: __________</a:t>
            </a:r>
            <a:endParaRPr lang="en-US" sz="850" dirty="0"/>
          </a:p>
        </p:txBody>
      </p:sp>
      <p:sp>
        <p:nvSpPr>
          <p:cNvPr id="25" name="Shape 23"/>
          <p:cNvSpPr/>
          <p:nvPr/>
        </p:nvSpPr>
        <p:spPr>
          <a:xfrm>
            <a:off x="0" y="4846320"/>
            <a:ext cx="9144000" cy="297180"/>
          </a:xfrm>
          <a:prstGeom prst="rect">
            <a:avLst/>
          </a:prstGeom>
          <a:solidFill>
            <a:srgbClr val="FFDE00"/>
          </a:solidFill>
          <a:ln w="12700">
            <a:solidFill>
              <a:srgbClr val="FFDE00"/>
            </a:solidFill>
            <a:prstDash val="solid"/>
          </a:ln>
        </p:spPr>
      </p:sp>
      <p:sp>
        <p:nvSpPr>
          <p:cNvPr id="26" name="Text 2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BM-2025-001  |  bombay-media.com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Bombay Media Service Agreement</dc:title>
  <dc:subject>PptxGenJS Presentation</dc:subject>
  <dc:creator>PptxGenJS</dc:creator>
  <cp:lastModifiedBy>PptxGenJS</cp:lastModifiedBy>
  <cp:revision>1</cp:revision>
  <dcterms:created xsi:type="dcterms:W3CDTF">2026-06-06T02:30:35Z</dcterms:created>
  <dcterms:modified xsi:type="dcterms:W3CDTF">2026-06-06T02:30:35Z</dcterms:modified>
</cp:coreProperties>
</file>